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</p:sldMasterIdLst>
  <p:notesMasterIdLst>
    <p:notesMasterId r:id="rId2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12192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731AD5B-A254-40DA-9F6F-60DE2043D16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1ED3AA-33EB-4782-AEC4-950AD37BAC7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E206BC-F845-4D29-8B1F-72999281B75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FD95FB-7ED7-49ED-A9C4-9A5B4640E26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071999-90FD-46B9-8CB3-4538B32A9E4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2D96FC-8373-41F0-AE73-1BBDC0B8DAE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747C3D-5B55-455F-8765-2321D9A0CA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500062-4D02-4A93-A1E0-F9CCE4AEC5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300BAF-9B9B-4AB3-9E8A-D791FC0A9D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1C165C-479F-40A1-986A-FFF3239DFB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C4D108-D616-4442-8EB2-2C2F827A33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2C50B9-CD88-411A-93E6-F5D47858F77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37DEBC-28EA-4659-A2B6-31748AD4B24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3758F2-9271-4C89-B6B6-B7271ECC60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B67DD0-656E-4649-A666-BC19C38D69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E65611-E271-4983-B8FD-2870229418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0BEB41-3D85-4199-9A0B-0E512CB0D1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C830F3-2746-4090-8B91-36DAB73212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65C0AE-5107-46B0-A979-6707F51E538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43822D-0B91-4E5E-B0D3-8A5E6C7161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DB7217-1BF1-4EFE-977B-85BFADACB9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E591A5-1AF2-4FC4-B4A8-4B8DE04755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0DA4BF-9783-4CDF-BB39-CAD0BED2FCB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7A5EAA-F28E-4762-BB27-F7CCC0C39D3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7693E3-AD33-44F9-AA0A-4EEB7374529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ADA4E8-7CD2-49F4-8D2C-B2B1A569C0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/mnt/data/wide_interior_illustration_of_a_modern_classroom_o_batch_1.png"/>
          <p:cNvPicPr/>
          <p:nvPr/>
        </p:nvPicPr>
        <p:blipFill>
          <a:blip r:embed="rId3"/>
          <a:srcRect t="24" b="2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Shape 0"/>
          <p:cNvSpPr/>
          <p:nvPr/>
        </p:nvSpPr>
        <p:spPr>
          <a:xfrm>
            <a:off x="0" y="0"/>
            <a:ext cx="5486040" cy="6857640"/>
          </a:xfrm>
          <a:prstGeom prst="rect">
            <a:avLst/>
          </a:prstGeom>
          <a:solidFill>
            <a:srgbClr val="F6FAFF">
              <a:alpha val="95000"/>
            </a:srgbClr>
          </a:solidFill>
          <a:ln w="12600">
            <a:solidFill>
              <a:srgbClr val="F6FA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1"/>
          <p:cNvSpPr/>
          <p:nvPr/>
        </p:nvSpPr>
        <p:spPr>
          <a:xfrm>
            <a:off x="658440" y="603360"/>
            <a:ext cx="2267280" cy="402120"/>
          </a:xfrm>
          <a:prstGeom prst="roundRect">
            <a:avLst>
              <a:gd name="adj" fmla="val 18182"/>
            </a:avLst>
          </a:prstGeom>
          <a:solidFill>
            <a:srgbClr val="E7F1FF"/>
          </a:solidFill>
          <a:ln w="12600">
            <a:solidFill>
              <a:srgbClr val="E7F1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786240" y="69048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E6BFF"/>
                </a:solidFill>
                <a:effectLst/>
                <a:uFillTx/>
                <a:latin typeface="Aptos"/>
              </a:rPr>
              <a:t>2º FORMACIÓN PROFESIONAL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658440" y="1170360"/>
            <a:ext cx="4160160" cy="166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70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Seguridad</a:t>
            </a:r>
            <a:endParaRPr lang="en-US" sz="4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70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Informática</a:t>
            </a:r>
            <a:endParaRPr lang="en-US" sz="4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694800" y="3090600"/>
            <a:ext cx="43887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Introducción al mundo de la ciberseguridad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con ejemplos cercanos, casos reales y decisiones prácticas.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685800" y="4297680"/>
            <a:ext cx="3383280" cy="360"/>
          </a:xfrm>
          <a:prstGeom prst="line">
            <a:avLst/>
          </a:prstGeom>
          <a:ln w="38160">
            <a:solidFill>
              <a:srgbClr val="1E6B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694800" y="4526280"/>
            <a:ext cx="43887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132033"/>
                </a:solidFill>
                <a:effectLst/>
                <a:uFillTx/>
                <a:latin typeface="Aptos"/>
                <a:ea typeface="Aptos"/>
              </a:rPr>
              <a:t>Objetivo: entender qué protegemos, de quién nos defendemos y qué hábitos reducen el riesgo.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11174040" y="64465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CA2BC"/>
                </a:solidFill>
                <a:effectLst/>
                <a:uFillTx/>
                <a:latin typeface="Aptos"/>
              </a:rPr>
              <a:t>01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530280" y="25596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E6BFF"/>
                </a:solidFill>
                <a:effectLst/>
                <a:uFillTx/>
                <a:latin typeface="Aptos"/>
                <a:ea typeface="Aptos"/>
              </a:rPr>
              <a:t>SEGURIDAD INFORMÁTICA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"/>
          <p:cNvSpPr/>
          <p:nvPr/>
        </p:nvSpPr>
        <p:spPr>
          <a:xfrm>
            <a:off x="530280" y="621720"/>
            <a:ext cx="11064240" cy="360"/>
          </a:xfrm>
          <a:prstGeom prst="line">
            <a:avLst/>
          </a:prstGeom>
          <a:ln w="12600">
            <a:solidFill>
              <a:srgbClr val="BBD7F4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621720" y="786240"/>
            <a:ext cx="6674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Ruta de la unidad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3"/>
          <p:cNvSpPr/>
          <p:nvPr/>
        </p:nvSpPr>
        <p:spPr>
          <a:xfrm>
            <a:off x="621720" y="1334880"/>
            <a:ext cx="6674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Cuatro preguntas para no perdernos.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786240" y="1847160"/>
            <a:ext cx="402120" cy="402120"/>
          </a:xfrm>
          <a:prstGeom prst="ellipse">
            <a:avLst/>
          </a:prstGeom>
          <a:solidFill>
            <a:srgbClr val="1E6BFF"/>
          </a:solidFill>
          <a:ln w="12600">
            <a:solidFill>
              <a:srgbClr val="1E6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786240" y="194328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1353240" y="1828800"/>
            <a:ext cx="28800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1" u="none" strike="noStrike">
                <a:solidFill>
                  <a:srgbClr val="10233F"/>
                </a:solidFill>
                <a:effectLst/>
                <a:uFillTx/>
                <a:latin typeface="Aptos"/>
                <a:ea typeface="Aptos"/>
              </a:rPr>
              <a:t>¿Por qué importa?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7"/>
          <p:cNvSpPr/>
          <p:nvPr/>
        </p:nvSpPr>
        <p:spPr>
          <a:xfrm>
            <a:off x="4370760" y="1837800"/>
            <a:ext cx="61718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La seguridad es crítica en empresas, centros educativos y hogares.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8"/>
          <p:cNvSpPr/>
          <p:nvPr/>
        </p:nvSpPr>
        <p:spPr>
          <a:xfrm>
            <a:off x="987480" y="2340720"/>
            <a:ext cx="9921240" cy="360"/>
          </a:xfrm>
          <a:prstGeom prst="line">
            <a:avLst/>
          </a:prstGeom>
          <a:ln w="12600">
            <a:solidFill>
              <a:srgbClr val="D7E8F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9"/>
          <p:cNvSpPr/>
          <p:nvPr/>
        </p:nvSpPr>
        <p:spPr>
          <a:xfrm>
            <a:off x="786240" y="2834640"/>
            <a:ext cx="402120" cy="402120"/>
          </a:xfrm>
          <a:prstGeom prst="ellipse">
            <a:avLst/>
          </a:prstGeom>
          <a:solidFill>
            <a:srgbClr val="00A99D"/>
          </a:solidFill>
          <a:ln w="12600">
            <a:solidFill>
              <a:srgbClr val="00A99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786240" y="293076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1353240" y="2816280"/>
            <a:ext cx="28800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1" u="none" strike="noStrike">
                <a:solidFill>
                  <a:srgbClr val="10233F"/>
                </a:solidFill>
                <a:effectLst/>
                <a:uFillTx/>
                <a:latin typeface="Aptos"/>
                <a:ea typeface="Aptos"/>
              </a:rPr>
              <a:t>¿Dónde viven los datos?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4370760" y="2825640"/>
            <a:ext cx="61718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On‑premises, nube, híbrido y responsabilidad compartida.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3"/>
          <p:cNvSpPr/>
          <p:nvPr/>
        </p:nvSpPr>
        <p:spPr>
          <a:xfrm>
            <a:off x="987480" y="3328200"/>
            <a:ext cx="9921240" cy="360"/>
          </a:xfrm>
          <a:prstGeom prst="line">
            <a:avLst/>
          </a:prstGeom>
          <a:ln w="12600">
            <a:solidFill>
              <a:srgbClr val="D7E8F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4"/>
          <p:cNvSpPr/>
          <p:nvPr/>
        </p:nvSpPr>
        <p:spPr>
          <a:xfrm>
            <a:off x="786240" y="3822120"/>
            <a:ext cx="402120" cy="402120"/>
          </a:xfrm>
          <a:prstGeom prst="ellipse">
            <a:avLst/>
          </a:prstGeom>
          <a:solidFill>
            <a:srgbClr val="FFB020"/>
          </a:solidFill>
          <a:ln w="12600">
            <a:solidFill>
              <a:srgbClr val="FFB02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786240" y="391824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6"/>
          <p:cNvSpPr/>
          <p:nvPr/>
        </p:nvSpPr>
        <p:spPr>
          <a:xfrm>
            <a:off x="1353240" y="3803760"/>
            <a:ext cx="28800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1" u="none" strike="noStrike">
                <a:solidFill>
                  <a:srgbClr val="10233F"/>
                </a:solidFill>
                <a:effectLst/>
                <a:uFillTx/>
                <a:latin typeface="Aptos"/>
                <a:ea typeface="Aptos"/>
              </a:rPr>
              <a:t>¿Cómo nos atacan?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7"/>
          <p:cNvSpPr/>
          <p:nvPr/>
        </p:nvSpPr>
        <p:spPr>
          <a:xfrm>
            <a:off x="4370760" y="3813120"/>
            <a:ext cx="61718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Amenazas, vulnerabilidades, riesgos, phishing, malware y desinformación.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8"/>
          <p:cNvSpPr/>
          <p:nvPr/>
        </p:nvSpPr>
        <p:spPr>
          <a:xfrm>
            <a:off x="987480" y="4315680"/>
            <a:ext cx="9921240" cy="360"/>
          </a:xfrm>
          <a:prstGeom prst="line">
            <a:avLst/>
          </a:prstGeom>
          <a:ln w="12600">
            <a:solidFill>
              <a:srgbClr val="D7E8F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9"/>
          <p:cNvSpPr/>
          <p:nvPr/>
        </p:nvSpPr>
        <p:spPr>
          <a:xfrm>
            <a:off x="786240" y="4809600"/>
            <a:ext cx="402120" cy="402120"/>
          </a:xfrm>
          <a:prstGeom prst="ellipse">
            <a:avLst/>
          </a:prstGeom>
          <a:solidFill>
            <a:srgbClr val="E84855"/>
          </a:solidFill>
          <a:ln w="12600">
            <a:solidFill>
              <a:srgbClr val="E8485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0"/>
          <p:cNvSpPr/>
          <p:nvPr/>
        </p:nvSpPr>
        <p:spPr>
          <a:xfrm>
            <a:off x="786240" y="490572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1"/>
          <p:cNvSpPr/>
          <p:nvPr/>
        </p:nvSpPr>
        <p:spPr>
          <a:xfrm>
            <a:off x="1353240" y="4791600"/>
            <a:ext cx="28800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1" u="none" strike="noStrike">
                <a:solidFill>
                  <a:srgbClr val="10233F"/>
                </a:solidFill>
                <a:effectLst/>
                <a:uFillTx/>
                <a:latin typeface="Aptos"/>
                <a:ea typeface="Aptos"/>
              </a:rPr>
              <a:t>¿Cómo nos defendemos?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2"/>
          <p:cNvSpPr/>
          <p:nvPr/>
        </p:nvSpPr>
        <p:spPr>
          <a:xfrm>
            <a:off x="4370760" y="4800600"/>
            <a:ext cx="61718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Buenas prácticas, equipos, respuesta a incidentes y uso responsable.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3"/>
          <p:cNvSpPr/>
          <p:nvPr/>
        </p:nvSpPr>
        <p:spPr>
          <a:xfrm>
            <a:off x="987480" y="5303520"/>
            <a:ext cx="9921240" cy="360"/>
          </a:xfrm>
          <a:prstGeom prst="line">
            <a:avLst/>
          </a:prstGeom>
          <a:ln w="12600">
            <a:solidFill>
              <a:srgbClr val="D7E8F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4"/>
          <p:cNvSpPr/>
          <p:nvPr/>
        </p:nvSpPr>
        <p:spPr>
          <a:xfrm>
            <a:off x="786240" y="6053400"/>
            <a:ext cx="1142640" cy="402120"/>
          </a:xfrm>
          <a:prstGeom prst="roundRect">
            <a:avLst>
              <a:gd name="adj" fmla="val 18182"/>
            </a:avLst>
          </a:prstGeom>
          <a:solidFill>
            <a:srgbClr val="E3F7F4"/>
          </a:solidFill>
          <a:ln w="12600">
            <a:solidFill>
              <a:srgbClr val="E3F7F4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5"/>
          <p:cNvSpPr/>
          <p:nvPr/>
        </p:nvSpPr>
        <p:spPr>
          <a:xfrm>
            <a:off x="914400" y="6140160"/>
            <a:ext cx="886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A99D"/>
                </a:solidFill>
                <a:effectLst/>
                <a:uFillTx/>
                <a:latin typeface="Aptos"/>
              </a:rPr>
              <a:t>Idea clave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6"/>
          <p:cNvSpPr/>
          <p:nvPr/>
        </p:nvSpPr>
        <p:spPr>
          <a:xfrm>
            <a:off x="2084760" y="5998320"/>
            <a:ext cx="74062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0233F"/>
                </a:solidFill>
                <a:effectLst/>
                <a:uFillTx/>
                <a:latin typeface="Aptos"/>
                <a:ea typeface="Aptos"/>
              </a:rPr>
              <a:t>No buscamos “seguridad perfecta”; buscamos reducir riesgos y saber reaccionar.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7"/>
          <p:cNvSpPr/>
          <p:nvPr/>
        </p:nvSpPr>
        <p:spPr>
          <a:xfrm>
            <a:off x="11174040" y="64465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CA2BC"/>
                </a:solidFill>
                <a:effectLst/>
                <a:uFillTx/>
                <a:latin typeface="Aptos"/>
              </a:rPr>
              <a:t>02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530280" y="25596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E6BFF"/>
                </a:solidFill>
                <a:effectLst/>
                <a:uFillTx/>
                <a:latin typeface="Aptos"/>
                <a:ea typeface="Aptos"/>
              </a:rPr>
              <a:t>1 · POR QUÉ IMPORTA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"/>
          <p:cNvSpPr/>
          <p:nvPr/>
        </p:nvSpPr>
        <p:spPr>
          <a:xfrm>
            <a:off x="530280" y="621720"/>
            <a:ext cx="11064240" cy="360"/>
          </a:xfrm>
          <a:prstGeom prst="line">
            <a:avLst/>
          </a:prstGeom>
          <a:ln w="12600">
            <a:solidFill>
              <a:srgbClr val="BBD7F4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" name="Image 0" descr="/mnt/data/wide_flat_vector_illustration_on_a_clean_tech_cyb_batch_5.png"/>
          <p:cNvPicPr/>
          <p:nvPr/>
        </p:nvPicPr>
        <p:blipFill>
          <a:blip r:embed="rId3"/>
          <a:srcRect l="22334" r="22334"/>
          <a:stretch/>
        </p:blipFill>
        <p:spPr>
          <a:xfrm>
            <a:off x="6263640" y="713160"/>
            <a:ext cx="5303160" cy="539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Shape 2"/>
          <p:cNvSpPr/>
          <p:nvPr/>
        </p:nvSpPr>
        <p:spPr>
          <a:xfrm>
            <a:off x="713160" y="804600"/>
            <a:ext cx="1051200" cy="402120"/>
          </a:xfrm>
          <a:prstGeom prst="roundRect">
            <a:avLst>
              <a:gd name="adj" fmla="val 18182"/>
            </a:avLst>
          </a:prstGeom>
          <a:solidFill>
            <a:srgbClr val="FFEDEF"/>
          </a:solidFill>
          <a:ln w="12600">
            <a:solidFill>
              <a:srgbClr val="FFEDE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"/>
          <p:cNvSpPr/>
          <p:nvPr/>
        </p:nvSpPr>
        <p:spPr>
          <a:xfrm>
            <a:off x="841320" y="891720"/>
            <a:ext cx="795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E84855"/>
                </a:solidFill>
                <a:effectLst/>
                <a:uFillTx/>
                <a:latin typeface="Aptos"/>
              </a:rPr>
              <a:t>MITO #1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4"/>
          <p:cNvSpPr/>
          <p:nvPr/>
        </p:nvSpPr>
        <p:spPr>
          <a:xfrm>
            <a:off x="713160" y="1298520"/>
            <a:ext cx="5074560" cy="141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Conseguir un sistema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100 % seguro es imposible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5"/>
          <p:cNvSpPr/>
          <p:nvPr/>
        </p:nvSpPr>
        <p:spPr>
          <a:xfrm>
            <a:off x="749880" y="2816280"/>
            <a:ext cx="475452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Siempre hay cambios: usuarios, actualizaciones, nuevas amenazas, errores humanos y servicios conectados.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6"/>
          <p:cNvSpPr/>
          <p:nvPr/>
        </p:nvSpPr>
        <p:spPr>
          <a:xfrm>
            <a:off x="749880" y="3913560"/>
            <a:ext cx="2285640" cy="107856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7"/>
          <p:cNvSpPr/>
          <p:nvPr/>
        </p:nvSpPr>
        <p:spPr>
          <a:xfrm>
            <a:off x="749880" y="3913560"/>
            <a:ext cx="91080" cy="1078560"/>
          </a:xfrm>
          <a:prstGeom prst="rect">
            <a:avLst/>
          </a:prstGeom>
          <a:solidFill>
            <a:srgbClr val="1E6BFF"/>
          </a:solidFill>
          <a:ln w="12600">
            <a:solidFill>
              <a:srgbClr val="1E6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8"/>
          <p:cNvSpPr/>
          <p:nvPr/>
        </p:nvSpPr>
        <p:spPr>
          <a:xfrm>
            <a:off x="1024200" y="4096440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Lo realista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9"/>
          <p:cNvSpPr/>
          <p:nvPr/>
        </p:nvSpPr>
        <p:spPr>
          <a:xfrm>
            <a:off x="1024200" y="4517280"/>
            <a:ext cx="1874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Reducir la probabilidad y el impacto.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0"/>
          <p:cNvSpPr/>
          <p:nvPr/>
        </p:nvSpPr>
        <p:spPr>
          <a:xfrm>
            <a:off x="3246120" y="3913560"/>
            <a:ext cx="2285640" cy="107856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1"/>
          <p:cNvSpPr/>
          <p:nvPr/>
        </p:nvSpPr>
        <p:spPr>
          <a:xfrm>
            <a:off x="3246120" y="3913560"/>
            <a:ext cx="91080" cy="1078560"/>
          </a:xfrm>
          <a:prstGeom prst="rect">
            <a:avLst/>
          </a:prstGeom>
          <a:solidFill>
            <a:srgbClr val="E84855"/>
          </a:solidFill>
          <a:ln w="12600">
            <a:solidFill>
              <a:srgbClr val="E8485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2"/>
          <p:cNvSpPr/>
          <p:nvPr/>
        </p:nvSpPr>
        <p:spPr>
          <a:xfrm>
            <a:off x="3520440" y="4096440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Lo peligroso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3"/>
          <p:cNvSpPr/>
          <p:nvPr/>
        </p:nvSpPr>
        <p:spPr>
          <a:xfrm>
            <a:off x="3520440" y="4517280"/>
            <a:ext cx="1874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Creer que “a mí no me pasa”.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4"/>
          <p:cNvSpPr/>
          <p:nvPr/>
        </p:nvSpPr>
        <p:spPr>
          <a:xfrm>
            <a:off x="768240" y="5650920"/>
            <a:ext cx="5166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 dirty="0" err="1">
                <a:solidFill>
                  <a:srgbClr val="132033"/>
                </a:solidFill>
                <a:effectLst/>
                <a:uFillTx/>
                <a:latin typeface="Aptos"/>
                <a:ea typeface="Aptos"/>
              </a:rPr>
              <a:t>Pregunta</a:t>
            </a:r>
            <a:r>
              <a:rPr lang="en-US" sz="1550" b="1" u="none" strike="noStrike" dirty="0">
                <a:solidFill>
                  <a:srgbClr val="132033"/>
                </a:solidFill>
                <a:effectLst/>
                <a:uFillTx/>
                <a:latin typeface="Aptos"/>
                <a:ea typeface="Aptos"/>
              </a:rPr>
              <a:t> de </a:t>
            </a:r>
            <a:r>
              <a:rPr lang="en-US" sz="1550" b="1" u="none" strike="noStrike" dirty="0" err="1">
                <a:solidFill>
                  <a:srgbClr val="132033"/>
                </a:solidFill>
                <a:effectLst/>
                <a:uFillTx/>
                <a:latin typeface="Aptos"/>
                <a:ea typeface="Aptos"/>
              </a:rPr>
              <a:t>clase</a:t>
            </a:r>
            <a:r>
              <a:rPr lang="en-US" sz="1550" b="1" u="none" strike="noStrike" dirty="0">
                <a:solidFill>
                  <a:srgbClr val="132033"/>
                </a:solidFill>
                <a:effectLst/>
                <a:uFillTx/>
                <a:latin typeface="Aptos"/>
                <a:ea typeface="Aptos"/>
              </a:rPr>
              <a:t>: ¿</a:t>
            </a:r>
            <a:r>
              <a:rPr lang="en-US" sz="1550" b="1" u="none" strike="noStrike" dirty="0" err="1">
                <a:solidFill>
                  <a:srgbClr val="132033"/>
                </a:solidFill>
                <a:effectLst/>
                <a:uFillTx/>
                <a:latin typeface="Aptos"/>
                <a:ea typeface="Aptos"/>
              </a:rPr>
              <a:t>qué</a:t>
            </a:r>
            <a:r>
              <a:rPr lang="en-US" sz="1550" b="1" u="none" strike="noStrike" dirty="0">
                <a:solidFill>
                  <a:srgbClr val="132033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550" b="1" u="none" strike="noStrike" dirty="0" err="1">
                <a:solidFill>
                  <a:srgbClr val="132033"/>
                </a:solidFill>
                <a:effectLst/>
                <a:uFillTx/>
                <a:latin typeface="Aptos"/>
                <a:ea typeface="Aptos"/>
              </a:rPr>
              <a:t>sistema</a:t>
            </a:r>
            <a:r>
              <a:rPr lang="en-US" sz="1550" b="1" u="none" strike="noStrike" dirty="0">
                <a:solidFill>
                  <a:srgbClr val="132033"/>
                </a:solidFill>
                <a:effectLst/>
                <a:uFillTx/>
                <a:latin typeface="Aptos"/>
                <a:ea typeface="Aptos"/>
              </a:rPr>
              <a:t> de </a:t>
            </a:r>
            <a:r>
              <a:rPr lang="en-US" sz="1550" b="1" u="none" strike="noStrike" dirty="0" err="1">
                <a:solidFill>
                  <a:srgbClr val="132033"/>
                </a:solidFill>
                <a:effectLst/>
                <a:uFillTx/>
                <a:latin typeface="Aptos"/>
                <a:ea typeface="Aptos"/>
              </a:rPr>
              <a:t>tu</a:t>
            </a:r>
            <a:r>
              <a:rPr lang="en-US" sz="1550" b="1" u="none" strike="noStrike" dirty="0">
                <a:solidFill>
                  <a:srgbClr val="132033"/>
                </a:solidFill>
                <a:effectLst/>
                <a:uFillTx/>
                <a:latin typeface="Aptos"/>
                <a:ea typeface="Aptos"/>
              </a:rPr>
              <a:t> día a día </a:t>
            </a:r>
            <a:r>
              <a:rPr lang="en-US" sz="1550" b="1" u="none" strike="noStrike" dirty="0" err="1">
                <a:solidFill>
                  <a:srgbClr val="132033"/>
                </a:solidFill>
                <a:effectLst/>
                <a:uFillTx/>
                <a:latin typeface="Aptos"/>
                <a:ea typeface="Aptos"/>
              </a:rPr>
              <a:t>depende</a:t>
            </a:r>
            <a:r>
              <a:rPr lang="en-US" sz="1550" b="1" u="none" strike="noStrike" dirty="0">
                <a:solidFill>
                  <a:srgbClr val="132033"/>
                </a:solidFill>
                <a:effectLst/>
                <a:uFillTx/>
                <a:latin typeface="Aptos"/>
                <a:ea typeface="Aptos"/>
              </a:rPr>
              <a:t> de Internet?</a:t>
            </a:r>
            <a:endParaRPr lang="en-US" sz="15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5"/>
          <p:cNvSpPr/>
          <p:nvPr/>
        </p:nvSpPr>
        <p:spPr>
          <a:xfrm>
            <a:off x="11174040" y="64465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CA2BC"/>
                </a:solidFill>
                <a:effectLst/>
                <a:uFillTx/>
                <a:latin typeface="Aptos"/>
              </a:rPr>
              <a:t>03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530280" y="25596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E6BFF"/>
                </a:solidFill>
                <a:effectLst/>
                <a:uFillTx/>
                <a:latin typeface="Aptos"/>
                <a:ea typeface="Aptos"/>
              </a:rPr>
              <a:t>1 · POR QUÉ IMPORTA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"/>
          <p:cNvSpPr/>
          <p:nvPr/>
        </p:nvSpPr>
        <p:spPr>
          <a:xfrm>
            <a:off x="530280" y="621720"/>
            <a:ext cx="11064240" cy="360"/>
          </a:xfrm>
          <a:prstGeom prst="line">
            <a:avLst/>
          </a:prstGeom>
          <a:ln w="12600">
            <a:solidFill>
              <a:srgbClr val="BBD7F4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"/>
          <p:cNvSpPr/>
          <p:nvPr/>
        </p:nvSpPr>
        <p:spPr>
          <a:xfrm>
            <a:off x="621720" y="786240"/>
            <a:ext cx="6674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Tres palabras que se confunden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621720" y="1334880"/>
            <a:ext cx="6674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Añadido básico para ordenar la asignatura.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4"/>
          <p:cNvSpPr/>
          <p:nvPr/>
        </p:nvSpPr>
        <p:spPr>
          <a:xfrm>
            <a:off x="749880" y="1691640"/>
            <a:ext cx="3401280" cy="144432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5"/>
          <p:cNvSpPr/>
          <p:nvPr/>
        </p:nvSpPr>
        <p:spPr>
          <a:xfrm>
            <a:off x="749880" y="1691640"/>
            <a:ext cx="91080" cy="1444320"/>
          </a:xfrm>
          <a:prstGeom prst="rect">
            <a:avLst/>
          </a:prstGeom>
          <a:solidFill>
            <a:srgbClr val="00A99D"/>
          </a:solidFill>
          <a:ln w="12600">
            <a:solidFill>
              <a:srgbClr val="00A99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6"/>
          <p:cNvSpPr/>
          <p:nvPr/>
        </p:nvSpPr>
        <p:spPr>
          <a:xfrm>
            <a:off x="1024200" y="1874520"/>
            <a:ext cx="29898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Seguridad de la información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7"/>
          <p:cNvSpPr/>
          <p:nvPr/>
        </p:nvSpPr>
        <p:spPr>
          <a:xfrm>
            <a:off x="1024200" y="2295000"/>
            <a:ext cx="29898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Protege la información: esté en papel, en un servidor, en un móvil o en la nube.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8"/>
          <p:cNvSpPr/>
          <p:nvPr/>
        </p:nvSpPr>
        <p:spPr>
          <a:xfrm>
            <a:off x="4407480" y="1691640"/>
            <a:ext cx="3401280" cy="144432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9"/>
          <p:cNvSpPr/>
          <p:nvPr/>
        </p:nvSpPr>
        <p:spPr>
          <a:xfrm>
            <a:off x="4407480" y="1691640"/>
            <a:ext cx="91080" cy="1444320"/>
          </a:xfrm>
          <a:prstGeom prst="rect">
            <a:avLst/>
          </a:prstGeom>
          <a:solidFill>
            <a:srgbClr val="1E6BFF"/>
          </a:solidFill>
          <a:ln w="12600">
            <a:solidFill>
              <a:srgbClr val="1E6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0"/>
          <p:cNvSpPr/>
          <p:nvPr/>
        </p:nvSpPr>
        <p:spPr>
          <a:xfrm>
            <a:off x="4681800" y="1874520"/>
            <a:ext cx="29898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Seguridad informática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1"/>
          <p:cNvSpPr/>
          <p:nvPr/>
        </p:nvSpPr>
        <p:spPr>
          <a:xfrm>
            <a:off x="4681800" y="2295000"/>
            <a:ext cx="29898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Protege sistemas, redes, equipos y aplicaciones que tratan esa información.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2"/>
          <p:cNvSpPr/>
          <p:nvPr/>
        </p:nvSpPr>
        <p:spPr>
          <a:xfrm>
            <a:off x="8065080" y="1691640"/>
            <a:ext cx="3401280" cy="144432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3"/>
          <p:cNvSpPr/>
          <p:nvPr/>
        </p:nvSpPr>
        <p:spPr>
          <a:xfrm>
            <a:off x="8065080" y="1691640"/>
            <a:ext cx="91080" cy="1444320"/>
          </a:xfrm>
          <a:prstGeom prst="rect">
            <a:avLst/>
          </a:prstGeom>
          <a:solidFill>
            <a:srgbClr val="7B61FF"/>
          </a:solidFill>
          <a:ln w="12600">
            <a:solidFill>
              <a:srgbClr val="7B61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4"/>
          <p:cNvSpPr/>
          <p:nvPr/>
        </p:nvSpPr>
        <p:spPr>
          <a:xfrm>
            <a:off x="8339400" y="1874520"/>
            <a:ext cx="29898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Ciberseguridad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5"/>
          <p:cNvSpPr/>
          <p:nvPr/>
        </p:nvSpPr>
        <p:spPr>
          <a:xfrm>
            <a:off x="8339400" y="2295000"/>
            <a:ext cx="29898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Se centra en proteger frente a riesgos y ataques en entornos digitales conectados.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6"/>
          <p:cNvSpPr/>
          <p:nvPr/>
        </p:nvSpPr>
        <p:spPr>
          <a:xfrm>
            <a:off x="932760" y="4005000"/>
            <a:ext cx="10240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En clase hablaremos de las tres, pero siempre pensando en casos prácticos.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7"/>
          <p:cNvSpPr/>
          <p:nvPr/>
        </p:nvSpPr>
        <p:spPr>
          <a:xfrm>
            <a:off x="841320" y="5102280"/>
            <a:ext cx="1627200" cy="51156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120">
            <a:solidFill>
              <a:srgbClr val="1E6BFF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8"/>
          <p:cNvSpPr/>
          <p:nvPr/>
        </p:nvSpPr>
        <p:spPr>
          <a:xfrm>
            <a:off x="987480" y="5175360"/>
            <a:ext cx="1334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32033"/>
                </a:solidFill>
                <a:effectLst/>
                <a:uFillTx/>
                <a:latin typeface="Aptos"/>
              </a:rPr>
              <a:t>datos personales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9"/>
          <p:cNvSpPr/>
          <p:nvPr/>
        </p:nvSpPr>
        <p:spPr>
          <a:xfrm>
            <a:off x="2715840" y="5102280"/>
            <a:ext cx="1627200" cy="51156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120">
            <a:solidFill>
              <a:srgbClr val="00A99D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0"/>
          <p:cNvSpPr/>
          <p:nvPr/>
        </p:nvSpPr>
        <p:spPr>
          <a:xfrm>
            <a:off x="2862000" y="5175360"/>
            <a:ext cx="1334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32033"/>
                </a:solidFill>
                <a:effectLst/>
                <a:uFillTx/>
                <a:latin typeface="Aptos"/>
              </a:rPr>
              <a:t>ordenadores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21"/>
          <p:cNvSpPr/>
          <p:nvPr/>
        </p:nvSpPr>
        <p:spPr>
          <a:xfrm>
            <a:off x="4590360" y="5102280"/>
            <a:ext cx="1627200" cy="51156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120">
            <a:solidFill>
              <a:srgbClr val="FFB020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2"/>
          <p:cNvSpPr/>
          <p:nvPr/>
        </p:nvSpPr>
        <p:spPr>
          <a:xfrm>
            <a:off x="4736520" y="5175360"/>
            <a:ext cx="1334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32033"/>
                </a:solidFill>
                <a:effectLst/>
                <a:uFillTx/>
                <a:latin typeface="Aptos"/>
              </a:rPr>
              <a:t>redes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23"/>
          <p:cNvSpPr/>
          <p:nvPr/>
        </p:nvSpPr>
        <p:spPr>
          <a:xfrm>
            <a:off x="6464880" y="5102280"/>
            <a:ext cx="1627200" cy="51156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120">
            <a:solidFill>
              <a:srgbClr val="7B61FF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4"/>
          <p:cNvSpPr/>
          <p:nvPr/>
        </p:nvSpPr>
        <p:spPr>
          <a:xfrm>
            <a:off x="6611040" y="5175360"/>
            <a:ext cx="1334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32033"/>
                </a:solidFill>
                <a:effectLst/>
                <a:uFillTx/>
                <a:latin typeface="Aptos"/>
              </a:rPr>
              <a:t>contraseñas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5"/>
          <p:cNvSpPr/>
          <p:nvPr/>
        </p:nvSpPr>
        <p:spPr>
          <a:xfrm>
            <a:off x="8339400" y="5102280"/>
            <a:ext cx="1627200" cy="51156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120">
            <a:solidFill>
              <a:srgbClr val="00B875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6"/>
          <p:cNvSpPr/>
          <p:nvPr/>
        </p:nvSpPr>
        <p:spPr>
          <a:xfrm>
            <a:off x="8485560" y="5175360"/>
            <a:ext cx="1334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32033"/>
                </a:solidFill>
                <a:effectLst/>
                <a:uFillTx/>
                <a:latin typeface="Aptos"/>
              </a:rPr>
              <a:t>copias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7"/>
          <p:cNvSpPr/>
          <p:nvPr/>
        </p:nvSpPr>
        <p:spPr>
          <a:xfrm>
            <a:off x="10213920" y="5102280"/>
            <a:ext cx="1627200" cy="51156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120">
            <a:solidFill>
              <a:srgbClr val="E84855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8"/>
          <p:cNvSpPr/>
          <p:nvPr/>
        </p:nvSpPr>
        <p:spPr>
          <a:xfrm>
            <a:off x="10360080" y="5175360"/>
            <a:ext cx="1334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32033"/>
                </a:solidFill>
                <a:effectLst/>
                <a:uFillTx/>
                <a:latin typeface="Aptos"/>
              </a:rPr>
              <a:t>servicios cloud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9"/>
          <p:cNvSpPr/>
          <p:nvPr/>
        </p:nvSpPr>
        <p:spPr>
          <a:xfrm>
            <a:off x="11174040" y="64465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CA2BC"/>
                </a:solidFill>
                <a:effectLst/>
                <a:uFillTx/>
                <a:latin typeface="Aptos"/>
              </a:rPr>
              <a:t>04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Image 0" descr="/mnt/data/wide_interior_illustration_of_a_modern_classroom_o_batch_1.png"/>
          <p:cNvPicPr/>
          <p:nvPr/>
        </p:nvPicPr>
        <p:blipFill>
          <a:blip r:embed="rId3"/>
          <a:srcRect t="24" b="2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 0"/>
          <p:cNvSpPr/>
          <p:nvPr/>
        </p:nvSpPr>
        <p:spPr>
          <a:xfrm>
            <a:off x="640080" y="64008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E6BFF"/>
                </a:solidFill>
                <a:effectLst/>
                <a:uFillTx/>
                <a:latin typeface="Aptos"/>
              </a:rPr>
              <a:t>EMPRESA Y SEGURIDAD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640080" y="1170360"/>
            <a:ext cx="6400440" cy="1234080"/>
          </a:xfrm>
          <a:prstGeom prst="rect">
            <a:avLst/>
          </a:prstGeom>
          <a:noFill/>
          <a:ln w="0">
            <a:noFill/>
          </a:ln>
          <a:effectLst>
            <a:outerShdw blurRad="25560" dist="50402" dir="2700000" rotWithShape="0">
              <a:srgbClr val="FFFFFF">
                <a:alpha val="8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La empresa vive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de sus datos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"/>
          <p:cNvSpPr/>
          <p:nvPr/>
        </p:nvSpPr>
        <p:spPr>
          <a:xfrm>
            <a:off x="676800" y="2743200"/>
            <a:ext cx="5028840" cy="822600"/>
          </a:xfrm>
          <a:prstGeom prst="rect">
            <a:avLst/>
          </a:prstGeom>
          <a:noFill/>
          <a:ln w="0">
            <a:noFill/>
          </a:ln>
          <a:effectLst>
            <a:outerShdw blurRad="25560" dist="50402" dir="2700000" rotWithShape="0">
              <a:srgbClr val="FFFFFF">
                <a:alpha val="8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32033"/>
                </a:solidFill>
                <a:effectLst/>
                <a:uFillTx/>
                <a:latin typeface="Aptos"/>
              </a:rPr>
              <a:t>Correos, facturas, clientes, bases de datos, proyectos, nóminas, pedidos… casi todo necesita sistemas funcionando.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"/>
          <p:cNvSpPr/>
          <p:nvPr/>
        </p:nvSpPr>
        <p:spPr>
          <a:xfrm>
            <a:off x="11174040" y="64465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CA2BC"/>
                </a:solidFill>
                <a:effectLst/>
                <a:uFillTx/>
                <a:latin typeface="Aptos"/>
              </a:rPr>
              <a:t>05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0"/>
          <p:cNvSpPr/>
          <p:nvPr/>
        </p:nvSpPr>
        <p:spPr>
          <a:xfrm>
            <a:off x="530280" y="25596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E6BFF"/>
                </a:solidFill>
                <a:effectLst/>
                <a:uFillTx/>
                <a:latin typeface="Aptos"/>
                <a:ea typeface="Aptos"/>
              </a:rPr>
              <a:t>1 · POR QUÉ IMPORTA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"/>
          <p:cNvSpPr/>
          <p:nvPr/>
        </p:nvSpPr>
        <p:spPr>
          <a:xfrm>
            <a:off x="530280" y="621720"/>
            <a:ext cx="11064240" cy="360"/>
          </a:xfrm>
          <a:prstGeom prst="line">
            <a:avLst/>
          </a:prstGeom>
          <a:ln w="12600">
            <a:solidFill>
              <a:srgbClr val="BBD7F4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"/>
          <p:cNvSpPr/>
          <p:nvPr/>
        </p:nvSpPr>
        <p:spPr>
          <a:xfrm>
            <a:off x="621720" y="786240"/>
            <a:ext cx="6674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77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La seguridad no es “cosa del informático”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3"/>
          <p:cNvSpPr/>
          <p:nvPr/>
        </p:nvSpPr>
        <p:spPr>
          <a:xfrm>
            <a:off x="621720" y="1334880"/>
            <a:ext cx="6674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Debe integrarse en la organización.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4"/>
          <p:cNvSpPr/>
          <p:nvPr/>
        </p:nvSpPr>
        <p:spPr>
          <a:xfrm>
            <a:off x="4617720" y="1847160"/>
            <a:ext cx="2239920" cy="566640"/>
          </a:xfrm>
          <a:prstGeom prst="roundRect">
            <a:avLst>
              <a:gd name="adj" fmla="val 16129"/>
            </a:avLst>
          </a:prstGeom>
          <a:solidFill>
            <a:srgbClr val="EAF0F7"/>
          </a:solidFill>
          <a:ln w="15120">
            <a:solidFill>
              <a:srgbClr val="10233F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5"/>
          <p:cNvSpPr/>
          <p:nvPr/>
        </p:nvSpPr>
        <p:spPr>
          <a:xfrm>
            <a:off x="4763880" y="1920240"/>
            <a:ext cx="19472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32033"/>
                </a:solidFill>
                <a:effectLst/>
                <a:uFillTx/>
                <a:latin typeface="Aptos"/>
              </a:rPr>
              <a:t>Dirección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6"/>
          <p:cNvSpPr/>
          <p:nvPr/>
        </p:nvSpPr>
        <p:spPr>
          <a:xfrm>
            <a:off x="5742360" y="2413800"/>
            <a:ext cx="360" cy="502920"/>
          </a:xfrm>
          <a:prstGeom prst="line">
            <a:avLst/>
          </a:prstGeom>
          <a:ln w="25560">
            <a:solidFill>
              <a:srgbClr val="BBD7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7"/>
          <p:cNvSpPr/>
          <p:nvPr/>
        </p:nvSpPr>
        <p:spPr>
          <a:xfrm>
            <a:off x="914400" y="2971800"/>
            <a:ext cx="1599840" cy="52992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5120">
            <a:solidFill>
              <a:srgbClr val="00A99D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8"/>
          <p:cNvSpPr/>
          <p:nvPr/>
        </p:nvSpPr>
        <p:spPr>
          <a:xfrm>
            <a:off x="1060560" y="3044880"/>
            <a:ext cx="13071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32033"/>
                </a:solidFill>
                <a:effectLst/>
                <a:uFillTx/>
                <a:latin typeface="Aptos"/>
              </a:rPr>
              <a:t>Producción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9"/>
          <p:cNvSpPr/>
          <p:nvPr/>
        </p:nvSpPr>
        <p:spPr>
          <a:xfrm flipV="1">
            <a:off x="1714320" y="2679120"/>
            <a:ext cx="360" cy="292680"/>
          </a:xfrm>
          <a:prstGeom prst="line">
            <a:avLst/>
          </a:prstGeom>
          <a:ln w="19080">
            <a:solidFill>
              <a:srgbClr val="BBD7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0"/>
          <p:cNvSpPr/>
          <p:nvPr/>
        </p:nvSpPr>
        <p:spPr>
          <a:xfrm>
            <a:off x="3200400" y="2971800"/>
            <a:ext cx="1599840" cy="52992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5120">
            <a:solidFill>
              <a:srgbClr val="1E6BFF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1"/>
          <p:cNvSpPr/>
          <p:nvPr/>
        </p:nvSpPr>
        <p:spPr>
          <a:xfrm>
            <a:off x="3346560" y="3044880"/>
            <a:ext cx="13071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32033"/>
                </a:solidFill>
                <a:effectLst/>
                <a:uFillTx/>
                <a:latin typeface="Aptos"/>
              </a:rPr>
              <a:t>Finanzas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2"/>
          <p:cNvSpPr/>
          <p:nvPr/>
        </p:nvSpPr>
        <p:spPr>
          <a:xfrm flipV="1">
            <a:off x="4000320" y="2679120"/>
            <a:ext cx="360" cy="292680"/>
          </a:xfrm>
          <a:prstGeom prst="line">
            <a:avLst/>
          </a:prstGeom>
          <a:ln w="19080">
            <a:solidFill>
              <a:srgbClr val="BBD7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3"/>
          <p:cNvSpPr/>
          <p:nvPr/>
        </p:nvSpPr>
        <p:spPr>
          <a:xfrm>
            <a:off x="5486400" y="2971800"/>
            <a:ext cx="1599840" cy="52992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5120">
            <a:solidFill>
              <a:srgbClr val="FFB020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4"/>
          <p:cNvSpPr/>
          <p:nvPr/>
        </p:nvSpPr>
        <p:spPr>
          <a:xfrm>
            <a:off x="5632560" y="3044880"/>
            <a:ext cx="13071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32033"/>
                </a:solidFill>
                <a:effectLst/>
                <a:uFillTx/>
                <a:latin typeface="Aptos"/>
              </a:rPr>
              <a:t>RR. HH.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5"/>
          <p:cNvSpPr/>
          <p:nvPr/>
        </p:nvSpPr>
        <p:spPr>
          <a:xfrm flipV="1">
            <a:off x="6286320" y="2679120"/>
            <a:ext cx="360" cy="292680"/>
          </a:xfrm>
          <a:prstGeom prst="line">
            <a:avLst/>
          </a:prstGeom>
          <a:ln w="19080">
            <a:solidFill>
              <a:srgbClr val="BBD7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6"/>
          <p:cNvSpPr/>
          <p:nvPr/>
        </p:nvSpPr>
        <p:spPr>
          <a:xfrm>
            <a:off x="7772400" y="2971800"/>
            <a:ext cx="1599840" cy="52992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5120">
            <a:solidFill>
              <a:srgbClr val="7B61FF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7"/>
          <p:cNvSpPr/>
          <p:nvPr/>
        </p:nvSpPr>
        <p:spPr>
          <a:xfrm>
            <a:off x="7918560" y="3044880"/>
            <a:ext cx="13071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32033"/>
                </a:solidFill>
                <a:effectLst/>
                <a:uFillTx/>
                <a:latin typeface="Aptos"/>
              </a:rPr>
              <a:t>CIO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8"/>
          <p:cNvSpPr/>
          <p:nvPr/>
        </p:nvSpPr>
        <p:spPr>
          <a:xfrm flipV="1">
            <a:off x="8572320" y="2679120"/>
            <a:ext cx="360" cy="292680"/>
          </a:xfrm>
          <a:prstGeom prst="line">
            <a:avLst/>
          </a:prstGeom>
          <a:ln w="19080">
            <a:solidFill>
              <a:srgbClr val="BBD7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9"/>
          <p:cNvSpPr/>
          <p:nvPr/>
        </p:nvSpPr>
        <p:spPr>
          <a:xfrm>
            <a:off x="9509760" y="2971800"/>
            <a:ext cx="1599840" cy="52992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5120">
            <a:solidFill>
              <a:srgbClr val="E84855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0"/>
          <p:cNvSpPr/>
          <p:nvPr/>
        </p:nvSpPr>
        <p:spPr>
          <a:xfrm>
            <a:off x="9655920" y="3044880"/>
            <a:ext cx="13071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32033"/>
                </a:solidFill>
                <a:effectLst/>
                <a:uFillTx/>
                <a:latin typeface="Aptos"/>
              </a:rPr>
              <a:t>CTO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21"/>
          <p:cNvSpPr/>
          <p:nvPr/>
        </p:nvSpPr>
        <p:spPr>
          <a:xfrm flipV="1">
            <a:off x="10309680" y="2679120"/>
            <a:ext cx="360" cy="292680"/>
          </a:xfrm>
          <a:prstGeom prst="line">
            <a:avLst/>
          </a:prstGeom>
          <a:ln w="19080">
            <a:solidFill>
              <a:srgbClr val="BBD7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22"/>
          <p:cNvSpPr/>
          <p:nvPr/>
        </p:nvSpPr>
        <p:spPr>
          <a:xfrm>
            <a:off x="1719000" y="2679120"/>
            <a:ext cx="8577000" cy="360"/>
          </a:xfrm>
          <a:prstGeom prst="line">
            <a:avLst/>
          </a:prstGeom>
          <a:ln w="19080">
            <a:solidFill>
              <a:srgbClr val="BBD7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3"/>
          <p:cNvSpPr/>
          <p:nvPr/>
        </p:nvSpPr>
        <p:spPr>
          <a:xfrm>
            <a:off x="786240" y="4224600"/>
            <a:ext cx="3200040" cy="12981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4"/>
          <p:cNvSpPr/>
          <p:nvPr/>
        </p:nvSpPr>
        <p:spPr>
          <a:xfrm>
            <a:off x="786240" y="4224600"/>
            <a:ext cx="91080" cy="1298160"/>
          </a:xfrm>
          <a:prstGeom prst="rect">
            <a:avLst/>
          </a:prstGeom>
          <a:solidFill>
            <a:srgbClr val="7B61FF"/>
          </a:solidFill>
          <a:ln w="12600">
            <a:solidFill>
              <a:srgbClr val="7B61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5"/>
          <p:cNvSpPr/>
          <p:nvPr/>
        </p:nvSpPr>
        <p:spPr>
          <a:xfrm>
            <a:off x="1060560" y="4407480"/>
            <a:ext cx="2788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CIO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6"/>
          <p:cNvSpPr/>
          <p:nvPr/>
        </p:nvSpPr>
        <p:spPr>
          <a:xfrm>
            <a:off x="1060560" y="4827960"/>
            <a:ext cx="27885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Visión de información, datos, legalidad y estrategia tecnológica.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7"/>
          <p:cNvSpPr/>
          <p:nvPr/>
        </p:nvSpPr>
        <p:spPr>
          <a:xfrm>
            <a:off x="4498920" y="4224600"/>
            <a:ext cx="3200040" cy="12981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8"/>
          <p:cNvSpPr/>
          <p:nvPr/>
        </p:nvSpPr>
        <p:spPr>
          <a:xfrm>
            <a:off x="4498920" y="4224600"/>
            <a:ext cx="91080" cy="1298160"/>
          </a:xfrm>
          <a:prstGeom prst="rect">
            <a:avLst/>
          </a:prstGeom>
          <a:solidFill>
            <a:srgbClr val="E84855"/>
          </a:solidFill>
          <a:ln w="12600">
            <a:solidFill>
              <a:srgbClr val="E8485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9"/>
          <p:cNvSpPr/>
          <p:nvPr/>
        </p:nvSpPr>
        <p:spPr>
          <a:xfrm>
            <a:off x="4773240" y="4407480"/>
            <a:ext cx="2788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CTO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30"/>
          <p:cNvSpPr/>
          <p:nvPr/>
        </p:nvSpPr>
        <p:spPr>
          <a:xfrm>
            <a:off x="4773240" y="4827960"/>
            <a:ext cx="27885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Arquitectura técnica, sistemas, herramientas y operación.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1"/>
          <p:cNvSpPr/>
          <p:nvPr/>
        </p:nvSpPr>
        <p:spPr>
          <a:xfrm>
            <a:off x="8211240" y="4224600"/>
            <a:ext cx="3200040" cy="12981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32"/>
          <p:cNvSpPr/>
          <p:nvPr/>
        </p:nvSpPr>
        <p:spPr>
          <a:xfrm>
            <a:off x="8211240" y="4224600"/>
            <a:ext cx="91080" cy="1298160"/>
          </a:xfrm>
          <a:prstGeom prst="rect">
            <a:avLst/>
          </a:prstGeom>
          <a:solidFill>
            <a:srgbClr val="00B875"/>
          </a:solidFill>
          <a:ln w="12600">
            <a:solidFill>
              <a:srgbClr val="00B87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3"/>
          <p:cNvSpPr/>
          <p:nvPr/>
        </p:nvSpPr>
        <p:spPr>
          <a:xfrm>
            <a:off x="8485560" y="4407480"/>
            <a:ext cx="2788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Todos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4"/>
          <p:cNvSpPr/>
          <p:nvPr/>
        </p:nvSpPr>
        <p:spPr>
          <a:xfrm>
            <a:off x="8485560" y="4827960"/>
            <a:ext cx="27885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Usuarios, profesorado y alumnado también crean o reducen riesgo.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5"/>
          <p:cNvSpPr/>
          <p:nvPr/>
        </p:nvSpPr>
        <p:spPr>
          <a:xfrm>
            <a:off x="11174040" y="64465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CA2BC"/>
                </a:solidFill>
                <a:effectLst/>
                <a:uFillTx/>
                <a:latin typeface="Aptos"/>
              </a:rPr>
              <a:t>06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/>
          <p:nvPr/>
        </p:nvSpPr>
        <p:spPr>
          <a:xfrm>
            <a:off x="530280" y="25596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E6BFF"/>
                </a:solidFill>
                <a:effectLst/>
                <a:uFillTx/>
                <a:latin typeface="Aptos"/>
                <a:ea typeface="Aptos"/>
              </a:rPr>
              <a:t>CONCEPTOS BÁSICOS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"/>
          <p:cNvSpPr/>
          <p:nvPr/>
        </p:nvSpPr>
        <p:spPr>
          <a:xfrm>
            <a:off x="530280" y="621720"/>
            <a:ext cx="11064240" cy="360"/>
          </a:xfrm>
          <a:prstGeom prst="line">
            <a:avLst/>
          </a:prstGeom>
          <a:ln w="12600">
            <a:solidFill>
              <a:srgbClr val="BBD7F4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"/>
          <p:cNvSpPr/>
          <p:nvPr/>
        </p:nvSpPr>
        <p:spPr>
          <a:xfrm>
            <a:off x="621720" y="786240"/>
            <a:ext cx="6674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La tríada CIA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3"/>
          <p:cNvSpPr/>
          <p:nvPr/>
        </p:nvSpPr>
        <p:spPr>
          <a:xfrm>
            <a:off x="621720" y="1334880"/>
            <a:ext cx="6674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Tres objetivos que aparecen una y otra vez.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4"/>
          <p:cNvSpPr/>
          <p:nvPr/>
        </p:nvSpPr>
        <p:spPr>
          <a:xfrm>
            <a:off x="1252800" y="1883520"/>
            <a:ext cx="1974600" cy="1974600"/>
          </a:xfrm>
          <a:prstGeom prst="ellipse">
            <a:avLst/>
          </a:prstGeom>
          <a:solidFill>
            <a:srgbClr val="1E6BFF"/>
          </a:solidFill>
          <a:ln w="12600">
            <a:solidFill>
              <a:srgbClr val="1E6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5"/>
          <p:cNvSpPr/>
          <p:nvPr/>
        </p:nvSpPr>
        <p:spPr>
          <a:xfrm>
            <a:off x="1828800" y="2267640"/>
            <a:ext cx="82260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6"/>
          <p:cNvSpPr/>
          <p:nvPr/>
        </p:nvSpPr>
        <p:spPr>
          <a:xfrm>
            <a:off x="914400" y="418788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0233F"/>
                </a:solidFill>
                <a:effectLst/>
                <a:uFillTx/>
                <a:latin typeface="Aptos"/>
                <a:ea typeface="Aptos"/>
              </a:rPr>
              <a:t>Confidencialidad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7"/>
          <p:cNvSpPr/>
          <p:nvPr/>
        </p:nvSpPr>
        <p:spPr>
          <a:xfrm>
            <a:off x="822960" y="4663440"/>
            <a:ext cx="283428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Solo accede quien debe.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Ej.: expediente o contraseña.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8"/>
          <p:cNvSpPr/>
          <p:nvPr/>
        </p:nvSpPr>
        <p:spPr>
          <a:xfrm>
            <a:off x="5093280" y="1883520"/>
            <a:ext cx="1974600" cy="1974600"/>
          </a:xfrm>
          <a:prstGeom prst="ellipse">
            <a:avLst/>
          </a:prstGeom>
          <a:solidFill>
            <a:srgbClr val="00A99D"/>
          </a:solidFill>
          <a:ln w="12600">
            <a:solidFill>
              <a:srgbClr val="00A99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9"/>
          <p:cNvSpPr/>
          <p:nvPr/>
        </p:nvSpPr>
        <p:spPr>
          <a:xfrm>
            <a:off x="5669280" y="2267640"/>
            <a:ext cx="82260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I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0"/>
          <p:cNvSpPr/>
          <p:nvPr/>
        </p:nvSpPr>
        <p:spPr>
          <a:xfrm>
            <a:off x="4754880" y="418788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0233F"/>
                </a:solidFill>
                <a:effectLst/>
                <a:uFillTx/>
                <a:latin typeface="Aptos"/>
                <a:ea typeface="Aptos"/>
              </a:rPr>
              <a:t>Integridad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1"/>
          <p:cNvSpPr/>
          <p:nvPr/>
        </p:nvSpPr>
        <p:spPr>
          <a:xfrm>
            <a:off x="4663440" y="4663440"/>
            <a:ext cx="283428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Los datos no se alteran sin control.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Ej.: nota, factura o código.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2"/>
          <p:cNvSpPr/>
          <p:nvPr/>
        </p:nvSpPr>
        <p:spPr>
          <a:xfrm>
            <a:off x="8933760" y="1883520"/>
            <a:ext cx="1974600" cy="1974600"/>
          </a:xfrm>
          <a:prstGeom prst="ellipse">
            <a:avLst/>
          </a:prstGeom>
          <a:solidFill>
            <a:srgbClr val="FFB020"/>
          </a:solidFill>
          <a:ln w="12600">
            <a:solidFill>
              <a:srgbClr val="FFB02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3"/>
          <p:cNvSpPr/>
          <p:nvPr/>
        </p:nvSpPr>
        <p:spPr>
          <a:xfrm>
            <a:off x="9509760" y="2267640"/>
            <a:ext cx="82260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4"/>
          <p:cNvSpPr/>
          <p:nvPr/>
        </p:nvSpPr>
        <p:spPr>
          <a:xfrm>
            <a:off x="8595360" y="418788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0233F"/>
                </a:solidFill>
                <a:effectLst/>
                <a:uFillTx/>
                <a:latin typeface="Aptos"/>
                <a:ea typeface="Aptos"/>
              </a:rPr>
              <a:t>Disponibilidad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5"/>
          <p:cNvSpPr/>
          <p:nvPr/>
        </p:nvSpPr>
        <p:spPr>
          <a:xfrm>
            <a:off x="8503920" y="4663440"/>
            <a:ext cx="283428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El servicio funciona cuando se necesita.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Ej.: Moodle o servidor web.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6"/>
          <p:cNvSpPr/>
          <p:nvPr/>
        </p:nvSpPr>
        <p:spPr>
          <a:xfrm>
            <a:off x="1188720" y="5961960"/>
            <a:ext cx="9692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32033"/>
                </a:solidFill>
                <a:effectLst/>
                <a:uFillTx/>
                <a:latin typeface="Aptos"/>
                <a:ea typeface="Aptos"/>
              </a:rPr>
              <a:t>Ejercicio rápido: ¿qué dimensión falla si se cae el aula virtual antes de un examen?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7"/>
          <p:cNvSpPr/>
          <p:nvPr/>
        </p:nvSpPr>
        <p:spPr>
          <a:xfrm>
            <a:off x="11174040" y="64465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CA2BC"/>
                </a:solidFill>
                <a:effectLst/>
                <a:uFillTx/>
                <a:latin typeface="Aptos"/>
              </a:rPr>
              <a:t>07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/>
          <p:nvPr/>
        </p:nvSpPr>
        <p:spPr>
          <a:xfrm>
            <a:off x="530280" y="25596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E6BFF"/>
                </a:solidFill>
                <a:effectLst/>
                <a:uFillTx/>
                <a:latin typeface="Aptos"/>
                <a:ea typeface="Aptos"/>
              </a:rPr>
              <a:t>CONCEPTOS BÁSICOS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"/>
          <p:cNvSpPr/>
          <p:nvPr/>
        </p:nvSpPr>
        <p:spPr>
          <a:xfrm>
            <a:off x="530280" y="621720"/>
            <a:ext cx="11064240" cy="360"/>
          </a:xfrm>
          <a:prstGeom prst="line">
            <a:avLst/>
          </a:prstGeom>
          <a:ln w="12600">
            <a:solidFill>
              <a:srgbClr val="BBD7F4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"/>
          <p:cNvSpPr/>
          <p:nvPr/>
        </p:nvSpPr>
        <p:spPr>
          <a:xfrm>
            <a:off x="621720" y="786240"/>
            <a:ext cx="6674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Amenaza + vulnerabilidad = riesgo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3"/>
          <p:cNvSpPr/>
          <p:nvPr/>
        </p:nvSpPr>
        <p:spPr>
          <a:xfrm>
            <a:off x="621720" y="1334880"/>
            <a:ext cx="6674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El riesgo aparece cuando algo malo puede aprovechar un punto débil.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4"/>
          <p:cNvSpPr/>
          <p:nvPr/>
        </p:nvSpPr>
        <p:spPr>
          <a:xfrm>
            <a:off x="713160" y="1920240"/>
            <a:ext cx="2514240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5"/>
          <p:cNvSpPr/>
          <p:nvPr/>
        </p:nvSpPr>
        <p:spPr>
          <a:xfrm>
            <a:off x="713160" y="1920240"/>
            <a:ext cx="91080" cy="1599840"/>
          </a:xfrm>
          <a:prstGeom prst="rect">
            <a:avLst/>
          </a:prstGeom>
          <a:solidFill>
            <a:srgbClr val="E84855"/>
          </a:solidFill>
          <a:ln w="12600">
            <a:solidFill>
              <a:srgbClr val="E8485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6"/>
          <p:cNvSpPr/>
          <p:nvPr/>
        </p:nvSpPr>
        <p:spPr>
          <a:xfrm>
            <a:off x="987480" y="210312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Amenaza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7"/>
          <p:cNvSpPr/>
          <p:nvPr/>
        </p:nvSpPr>
        <p:spPr>
          <a:xfrm>
            <a:off x="987480" y="2523600"/>
            <a:ext cx="2102760" cy="88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Lo que puede causar daño.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Ej.: ransomware, ladrón, apagón.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8"/>
          <p:cNvSpPr/>
          <p:nvPr/>
        </p:nvSpPr>
        <p:spPr>
          <a:xfrm>
            <a:off x="3593520" y="1920240"/>
            <a:ext cx="2514240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9"/>
          <p:cNvSpPr/>
          <p:nvPr/>
        </p:nvSpPr>
        <p:spPr>
          <a:xfrm>
            <a:off x="3593520" y="1920240"/>
            <a:ext cx="91080" cy="1599840"/>
          </a:xfrm>
          <a:prstGeom prst="rect">
            <a:avLst/>
          </a:prstGeom>
          <a:solidFill>
            <a:srgbClr val="FFB020"/>
          </a:solidFill>
          <a:ln w="12600">
            <a:solidFill>
              <a:srgbClr val="FFB02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0"/>
          <p:cNvSpPr/>
          <p:nvPr/>
        </p:nvSpPr>
        <p:spPr>
          <a:xfrm>
            <a:off x="3867840" y="210312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Vulnerabilidad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1"/>
          <p:cNvSpPr/>
          <p:nvPr/>
        </p:nvSpPr>
        <p:spPr>
          <a:xfrm>
            <a:off x="3867840" y="2523600"/>
            <a:ext cx="2102760" cy="88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Punto débil que puede explotarse.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Ej.: contraseña 123456, software sin actualizar.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2"/>
          <p:cNvSpPr/>
          <p:nvPr/>
        </p:nvSpPr>
        <p:spPr>
          <a:xfrm>
            <a:off x="6473880" y="1920240"/>
            <a:ext cx="2514240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3"/>
          <p:cNvSpPr/>
          <p:nvPr/>
        </p:nvSpPr>
        <p:spPr>
          <a:xfrm>
            <a:off x="6473880" y="1920240"/>
            <a:ext cx="91080" cy="1599840"/>
          </a:xfrm>
          <a:prstGeom prst="rect">
            <a:avLst/>
          </a:prstGeom>
          <a:solidFill>
            <a:srgbClr val="1E6BFF"/>
          </a:solidFill>
          <a:ln w="12600">
            <a:solidFill>
              <a:srgbClr val="1E6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4"/>
          <p:cNvSpPr/>
          <p:nvPr/>
        </p:nvSpPr>
        <p:spPr>
          <a:xfrm>
            <a:off x="6748200" y="210312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Activo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5"/>
          <p:cNvSpPr/>
          <p:nvPr/>
        </p:nvSpPr>
        <p:spPr>
          <a:xfrm>
            <a:off x="6748200" y="2523600"/>
            <a:ext cx="2102760" cy="88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Lo que queremos proteger.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Ej.: datos, equipos, web, reputación.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6"/>
          <p:cNvSpPr/>
          <p:nvPr/>
        </p:nvSpPr>
        <p:spPr>
          <a:xfrm>
            <a:off x="9354240" y="1920240"/>
            <a:ext cx="2514240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7"/>
          <p:cNvSpPr/>
          <p:nvPr/>
        </p:nvSpPr>
        <p:spPr>
          <a:xfrm>
            <a:off x="9354240" y="1920240"/>
            <a:ext cx="91080" cy="1599840"/>
          </a:xfrm>
          <a:prstGeom prst="rect">
            <a:avLst/>
          </a:prstGeom>
          <a:solidFill>
            <a:srgbClr val="00A99D"/>
          </a:solidFill>
          <a:ln w="12600">
            <a:solidFill>
              <a:srgbClr val="00A99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8"/>
          <p:cNvSpPr/>
          <p:nvPr/>
        </p:nvSpPr>
        <p:spPr>
          <a:xfrm>
            <a:off x="9628560" y="210312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Riesgo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9"/>
          <p:cNvSpPr/>
          <p:nvPr/>
        </p:nvSpPr>
        <p:spPr>
          <a:xfrm>
            <a:off x="9628560" y="2523600"/>
            <a:ext cx="2102760" cy="88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Probabilidad × impacto.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Ej.: perder datos de clientes.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0"/>
          <p:cNvSpPr/>
          <p:nvPr/>
        </p:nvSpPr>
        <p:spPr>
          <a:xfrm>
            <a:off x="914400" y="4617720"/>
            <a:ext cx="103323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0233F"/>
                </a:solidFill>
                <a:effectLst/>
                <a:uFillTx/>
                <a:latin typeface="Aptos"/>
                <a:ea typeface="Aptos"/>
              </a:rPr>
              <a:t>No todas las amenazas tienen el mismo riesgo: depende del activo, del impacto y de las medidas existentes.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1"/>
          <p:cNvSpPr/>
          <p:nvPr/>
        </p:nvSpPr>
        <p:spPr>
          <a:xfrm>
            <a:off x="914400" y="5559480"/>
            <a:ext cx="1416960" cy="402120"/>
          </a:xfrm>
          <a:prstGeom prst="roundRect">
            <a:avLst>
              <a:gd name="adj" fmla="val 18182"/>
            </a:avLst>
          </a:prstGeom>
          <a:solidFill>
            <a:srgbClr val="E7F1FF"/>
          </a:solidFill>
          <a:ln w="12600">
            <a:solidFill>
              <a:srgbClr val="E7F1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2"/>
          <p:cNvSpPr/>
          <p:nvPr/>
        </p:nvSpPr>
        <p:spPr>
          <a:xfrm>
            <a:off x="1042560" y="5646600"/>
            <a:ext cx="1161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E6BFF"/>
                </a:solidFill>
                <a:effectLst/>
                <a:uFillTx/>
                <a:latin typeface="Aptos"/>
              </a:rPr>
              <a:t>Fórmula mental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3"/>
          <p:cNvSpPr/>
          <p:nvPr/>
        </p:nvSpPr>
        <p:spPr>
          <a:xfrm>
            <a:off x="2487240" y="5559480"/>
            <a:ext cx="8046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Si no hay vulnerabilidad explotable, el riesgo baja. Si el impacto es enorme, hay que priorizarlo.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4"/>
          <p:cNvSpPr/>
          <p:nvPr/>
        </p:nvSpPr>
        <p:spPr>
          <a:xfrm>
            <a:off x="11174040" y="64465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CA2BC"/>
                </a:solidFill>
                <a:effectLst/>
                <a:uFillTx/>
                <a:latin typeface="Aptos"/>
              </a:rPr>
              <a:t>08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Image 0" descr="/mnt/data/a_cinematic_high_tech_cyber_security_operations_r_batch_2.png"/>
          <p:cNvPicPr/>
          <p:nvPr/>
        </p:nvPicPr>
        <p:blipFill>
          <a:blip r:embed="rId3"/>
          <a:srcRect t="24" b="2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Text 0"/>
          <p:cNvSpPr/>
          <p:nvPr/>
        </p:nvSpPr>
        <p:spPr>
          <a:xfrm>
            <a:off x="640080" y="640080"/>
            <a:ext cx="3657240" cy="255600"/>
          </a:xfrm>
          <a:prstGeom prst="rect">
            <a:avLst/>
          </a:prstGeom>
          <a:noFill/>
          <a:ln w="0">
            <a:noFill/>
          </a:ln>
          <a:effectLst>
            <a:outerShdw blurRad="25560" dist="50402" dir="27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9FE3FF"/>
                </a:solidFill>
                <a:effectLst/>
                <a:uFillTx/>
                <a:latin typeface="Aptos"/>
              </a:rPr>
              <a:t>EQUIPOS DE CIBERSEGURIDAD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"/>
          <p:cNvSpPr/>
          <p:nvPr/>
        </p:nvSpPr>
        <p:spPr>
          <a:xfrm>
            <a:off x="640080" y="1170360"/>
            <a:ext cx="6400440" cy="1234080"/>
          </a:xfrm>
          <a:prstGeom prst="rect">
            <a:avLst/>
          </a:prstGeom>
          <a:noFill/>
          <a:ln w="0">
            <a:noFill/>
          </a:ln>
          <a:effectLst>
            <a:outerShdw blurRad="38160" dist="50402" dir="2700000" rotWithShape="0">
              <a:srgbClr val="000000">
                <a:alpha val="5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Red Team vs Blue Team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"/>
          <p:cNvSpPr/>
          <p:nvPr/>
        </p:nvSpPr>
        <p:spPr>
          <a:xfrm>
            <a:off x="676800" y="2743200"/>
            <a:ext cx="5028840" cy="822600"/>
          </a:xfrm>
          <a:prstGeom prst="rect">
            <a:avLst/>
          </a:prstGeom>
          <a:noFill/>
          <a:ln w="0">
            <a:noFill/>
          </a:ln>
          <a:effectLst>
            <a:outerShdw blurRad="25560" dist="50402" dir="27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CEBFF"/>
                </a:solidFill>
                <a:effectLst/>
                <a:uFillTx/>
                <a:latin typeface="Aptos"/>
              </a:rPr>
              <a:t>El Red Team piensa como atacante para encontrar fallos. El Blue Team defiende, detecta, responde y mejora.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3"/>
          <p:cNvSpPr/>
          <p:nvPr/>
        </p:nvSpPr>
        <p:spPr>
          <a:xfrm>
            <a:off x="11174040" y="64465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CA2BC"/>
                </a:solidFill>
                <a:effectLst/>
                <a:uFillTx/>
                <a:latin typeface="Aptos"/>
              </a:rPr>
              <a:t>09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0"/>
          <p:cNvSpPr/>
          <p:nvPr/>
        </p:nvSpPr>
        <p:spPr>
          <a:xfrm>
            <a:off x="530280" y="25596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E6BFF"/>
                </a:solidFill>
                <a:effectLst/>
                <a:uFillTx/>
                <a:latin typeface="Aptos"/>
                <a:ea typeface="Aptos"/>
              </a:rPr>
              <a:t>1 · POR QUÉ IMPORTA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"/>
          <p:cNvSpPr/>
          <p:nvPr/>
        </p:nvSpPr>
        <p:spPr>
          <a:xfrm>
            <a:off x="530280" y="621720"/>
            <a:ext cx="11064240" cy="360"/>
          </a:xfrm>
          <a:prstGeom prst="line">
            <a:avLst/>
          </a:prstGeom>
          <a:ln w="12600">
            <a:solidFill>
              <a:srgbClr val="BBD7F4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"/>
          <p:cNvSpPr/>
          <p:nvPr/>
        </p:nvSpPr>
        <p:spPr>
          <a:xfrm>
            <a:off x="621720" y="786240"/>
            <a:ext cx="6674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¿Quién hace qué?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"/>
          <p:cNvSpPr/>
          <p:nvPr/>
        </p:nvSpPr>
        <p:spPr>
          <a:xfrm>
            <a:off x="621720" y="1334880"/>
            <a:ext cx="6674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Tres formas de aprender seguridad en una organización.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4"/>
          <p:cNvSpPr/>
          <p:nvPr/>
        </p:nvSpPr>
        <p:spPr>
          <a:xfrm>
            <a:off x="777240" y="1600200"/>
            <a:ext cx="3291480" cy="28800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5"/>
          <p:cNvSpPr/>
          <p:nvPr/>
        </p:nvSpPr>
        <p:spPr>
          <a:xfrm>
            <a:off x="777240" y="1600200"/>
            <a:ext cx="91080" cy="2880000"/>
          </a:xfrm>
          <a:prstGeom prst="rect">
            <a:avLst/>
          </a:prstGeom>
          <a:solidFill>
            <a:srgbClr val="1E6BFF"/>
          </a:solidFill>
          <a:ln w="12600">
            <a:solidFill>
              <a:srgbClr val="1E6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6"/>
          <p:cNvSpPr/>
          <p:nvPr/>
        </p:nvSpPr>
        <p:spPr>
          <a:xfrm>
            <a:off x="1051560" y="1783080"/>
            <a:ext cx="2880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Blue Team: defender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7"/>
          <p:cNvSpPr/>
          <p:nvPr/>
        </p:nvSpPr>
        <p:spPr>
          <a:xfrm>
            <a:off x="1051560" y="2203560"/>
            <a:ext cx="2880000" cy="216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• Monitoriza sistemas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• Crea planes de actuación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• Detecta posibles amenazas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• Analiza patrones y comportamientos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8"/>
          <p:cNvSpPr/>
          <p:nvPr/>
        </p:nvSpPr>
        <p:spPr>
          <a:xfrm>
            <a:off x="4443840" y="1600200"/>
            <a:ext cx="3291480" cy="28800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9"/>
          <p:cNvSpPr/>
          <p:nvPr/>
        </p:nvSpPr>
        <p:spPr>
          <a:xfrm>
            <a:off x="4443840" y="1600200"/>
            <a:ext cx="91080" cy="2880000"/>
          </a:xfrm>
          <a:prstGeom prst="rect">
            <a:avLst/>
          </a:prstGeom>
          <a:solidFill>
            <a:srgbClr val="E84855"/>
          </a:solidFill>
          <a:ln w="12600">
            <a:solidFill>
              <a:srgbClr val="E8485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0"/>
          <p:cNvSpPr/>
          <p:nvPr/>
        </p:nvSpPr>
        <p:spPr>
          <a:xfrm>
            <a:off x="4718160" y="1783080"/>
            <a:ext cx="2880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Red Team: atacar controlado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1"/>
          <p:cNvSpPr/>
          <p:nvPr/>
        </p:nvSpPr>
        <p:spPr>
          <a:xfrm>
            <a:off x="4718160" y="2203560"/>
            <a:ext cx="2880000" cy="216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• Simula ataques permitidos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• Busca puntos críticos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• Mide capacidad de detección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• Ayuda a saber “dónde duele”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2"/>
          <p:cNvSpPr/>
          <p:nvPr/>
        </p:nvSpPr>
        <p:spPr>
          <a:xfrm>
            <a:off x="8110800" y="1600200"/>
            <a:ext cx="3291480" cy="28800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3"/>
          <p:cNvSpPr/>
          <p:nvPr/>
        </p:nvSpPr>
        <p:spPr>
          <a:xfrm>
            <a:off x="8110800" y="1600200"/>
            <a:ext cx="91080" cy="2880000"/>
          </a:xfrm>
          <a:prstGeom prst="rect">
            <a:avLst/>
          </a:prstGeom>
          <a:solidFill>
            <a:srgbClr val="7B61FF"/>
          </a:solidFill>
          <a:ln w="12600">
            <a:solidFill>
              <a:srgbClr val="7B61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4"/>
          <p:cNvSpPr/>
          <p:nvPr/>
        </p:nvSpPr>
        <p:spPr>
          <a:xfrm>
            <a:off x="8385120" y="1783080"/>
            <a:ext cx="2880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Purple Team: aprender juntos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5"/>
          <p:cNvSpPr/>
          <p:nvPr/>
        </p:nvSpPr>
        <p:spPr>
          <a:xfrm>
            <a:off x="8385120" y="2203560"/>
            <a:ext cx="2880000" cy="216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• Convierte ataques en mejoras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• Comparte evidencias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• Ajusta reglas, alertas y procedimientos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• Reduce el tiempo de respuesta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6"/>
          <p:cNvSpPr/>
          <p:nvPr/>
        </p:nvSpPr>
        <p:spPr>
          <a:xfrm>
            <a:off x="960120" y="5440680"/>
            <a:ext cx="101494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1" u="none" strike="noStrike">
                <a:solidFill>
                  <a:srgbClr val="10233F"/>
                </a:solidFill>
                <a:effectLst/>
                <a:uFillTx/>
                <a:latin typeface="Aptos"/>
                <a:ea typeface="Aptos"/>
              </a:rPr>
              <a:t>Importante: en clase, cualquier prueba se hace solo en laboratorios autorizados.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7"/>
          <p:cNvSpPr/>
          <p:nvPr/>
        </p:nvSpPr>
        <p:spPr>
          <a:xfrm>
            <a:off x="11174040" y="64465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CA2BC"/>
                </a:solidFill>
                <a:effectLst/>
                <a:uFillTx/>
                <a:latin typeface="Aptos"/>
              </a:rPr>
              <a:t>10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Image 0" descr="/mnt/data/wide_clean_modern_semi_realistic_vector_3d_hybr_batch_3.png"/>
          <p:cNvPicPr/>
          <p:nvPr/>
        </p:nvPicPr>
        <p:blipFill>
          <a:blip r:embed="rId3"/>
          <a:srcRect t="24" b="2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Text 0"/>
          <p:cNvSpPr/>
          <p:nvPr/>
        </p:nvSpPr>
        <p:spPr>
          <a:xfrm>
            <a:off x="604220" y="256913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dirty="0">
                <a:solidFill>
                  <a:srgbClr val="1E6BFF"/>
                </a:solidFill>
                <a:effectLst/>
                <a:uFillTx/>
                <a:latin typeface="Aptos"/>
              </a:rPr>
              <a:t>DATOS Y ALMACENAMIENTO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"/>
          <p:cNvSpPr/>
          <p:nvPr/>
        </p:nvSpPr>
        <p:spPr>
          <a:xfrm>
            <a:off x="2958354" y="137520"/>
            <a:ext cx="7906870" cy="1234080"/>
          </a:xfrm>
          <a:prstGeom prst="rect">
            <a:avLst/>
          </a:prstGeom>
          <a:noFill/>
          <a:ln w="0">
            <a:noFill/>
          </a:ln>
          <a:effectLst>
            <a:outerShdw blurRad="25560" dist="50402" dir="2700000" rotWithShape="0">
              <a:srgbClr val="FFFFFF">
                <a:alpha val="8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 dirty="0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¿</a:t>
            </a:r>
            <a:r>
              <a:rPr lang="en-US" sz="4200" b="1" u="none" strike="noStrike" dirty="0" err="1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Dónde</a:t>
            </a:r>
            <a:r>
              <a:rPr lang="en-US" sz="4200" b="1" u="none" strike="noStrike" dirty="0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 </a:t>
            </a:r>
            <a:r>
              <a:rPr lang="en-US" sz="4200" b="1" u="none" strike="noStrike" dirty="0" err="1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guardamos</a:t>
            </a:r>
            <a:r>
              <a:rPr lang="en-US" sz="420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4200" b="1" u="none" strike="noStrike" dirty="0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la </a:t>
            </a:r>
            <a:r>
              <a:rPr lang="en-US" sz="4200" b="1" u="none" strike="noStrike" dirty="0" err="1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información</a:t>
            </a:r>
            <a:r>
              <a:rPr lang="en-US" sz="4200" b="1" u="none" strike="noStrike" dirty="0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lang="en-US" sz="4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"/>
          <p:cNvSpPr/>
          <p:nvPr/>
        </p:nvSpPr>
        <p:spPr>
          <a:xfrm>
            <a:off x="6337080" y="4921623"/>
            <a:ext cx="5603908" cy="822600"/>
          </a:xfrm>
          <a:prstGeom prst="rect">
            <a:avLst/>
          </a:prstGeom>
          <a:noFill/>
          <a:ln w="0">
            <a:noFill/>
          </a:ln>
          <a:effectLst>
            <a:outerShdw blurRad="25560" dist="50402" dir="2700000" rotWithShape="0">
              <a:srgbClr val="FFFFFF">
                <a:alpha val="8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132033"/>
                </a:solidFill>
                <a:effectLst/>
                <a:uFillTx/>
                <a:latin typeface="Aptos"/>
              </a:rPr>
              <a:t>On‑premises, cloud o </a:t>
            </a:r>
            <a:r>
              <a:rPr lang="en-US" sz="1800" b="0" u="none" strike="noStrike" dirty="0" err="1">
                <a:solidFill>
                  <a:srgbClr val="132033"/>
                </a:solidFill>
                <a:effectLst/>
                <a:uFillTx/>
                <a:latin typeface="Aptos"/>
              </a:rPr>
              <a:t>modelo</a:t>
            </a:r>
            <a:r>
              <a:rPr lang="en-US" sz="1800" b="0" u="none" strike="noStrike" dirty="0">
                <a:solidFill>
                  <a:srgbClr val="132033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 dirty="0" err="1">
                <a:solidFill>
                  <a:srgbClr val="132033"/>
                </a:solidFill>
                <a:effectLst/>
                <a:uFillTx/>
                <a:latin typeface="Aptos"/>
              </a:rPr>
              <a:t>híbrido</a:t>
            </a:r>
            <a:r>
              <a:rPr lang="en-US" sz="1800" b="0" u="none" strike="noStrike" dirty="0">
                <a:solidFill>
                  <a:srgbClr val="132033"/>
                </a:solidFill>
                <a:effectLst/>
                <a:uFillTx/>
                <a:latin typeface="Aptos"/>
              </a:rPr>
              <a:t>: no cambia la </a:t>
            </a:r>
            <a:r>
              <a:rPr lang="en-US" sz="1800" b="0" u="none" strike="noStrike" dirty="0" err="1">
                <a:solidFill>
                  <a:srgbClr val="132033"/>
                </a:solidFill>
                <a:effectLst/>
                <a:uFillTx/>
                <a:latin typeface="Aptos"/>
              </a:rPr>
              <a:t>necesidad</a:t>
            </a:r>
            <a:r>
              <a:rPr lang="en-US" sz="1800" b="0" u="none" strike="noStrike" dirty="0">
                <a:solidFill>
                  <a:srgbClr val="132033"/>
                </a:solidFill>
                <a:effectLst/>
                <a:uFillTx/>
                <a:latin typeface="Aptos"/>
              </a:rPr>
              <a:t> de </a:t>
            </a:r>
            <a:r>
              <a:rPr lang="en-US" sz="1800" b="0" u="none" strike="noStrike" dirty="0" err="1">
                <a:solidFill>
                  <a:srgbClr val="132033"/>
                </a:solidFill>
                <a:effectLst/>
                <a:uFillTx/>
                <a:latin typeface="Aptos"/>
              </a:rPr>
              <a:t>proteger</a:t>
            </a:r>
            <a:r>
              <a:rPr lang="en-US" sz="1800" b="0" u="none" strike="noStrike" dirty="0">
                <a:solidFill>
                  <a:srgbClr val="132033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 dirty="0" err="1">
                <a:solidFill>
                  <a:srgbClr val="132033"/>
                </a:solidFill>
                <a:effectLst/>
                <a:uFillTx/>
                <a:latin typeface="Aptos"/>
              </a:rPr>
              <a:t>datos</a:t>
            </a:r>
            <a:r>
              <a:rPr lang="en-US" sz="1800" b="0" u="none" strike="noStrike" dirty="0">
                <a:solidFill>
                  <a:srgbClr val="132033"/>
                </a:solidFill>
                <a:effectLst/>
                <a:uFillTx/>
                <a:latin typeface="Aptos"/>
              </a:rPr>
              <a:t>, </a:t>
            </a:r>
            <a:r>
              <a:rPr lang="en-US" sz="1800" b="0" u="none" strike="noStrike" dirty="0" err="1">
                <a:solidFill>
                  <a:srgbClr val="132033"/>
                </a:solidFill>
                <a:effectLst/>
                <a:uFillTx/>
                <a:latin typeface="Aptos"/>
              </a:rPr>
              <a:t>accesos</a:t>
            </a:r>
            <a:r>
              <a:rPr lang="en-US" sz="1800" b="0" u="none" strike="noStrike" dirty="0">
                <a:solidFill>
                  <a:srgbClr val="132033"/>
                </a:solidFill>
                <a:effectLst/>
                <a:uFillTx/>
                <a:latin typeface="Aptos"/>
              </a:rPr>
              <a:t>, </a:t>
            </a:r>
            <a:r>
              <a:rPr lang="en-US" sz="1800" b="0" u="none" strike="noStrike" dirty="0" err="1">
                <a:solidFill>
                  <a:srgbClr val="132033"/>
                </a:solidFill>
                <a:effectLst/>
                <a:uFillTx/>
                <a:latin typeface="Aptos"/>
              </a:rPr>
              <a:t>copias</a:t>
            </a:r>
            <a:r>
              <a:rPr lang="en-US" sz="1800" b="0" u="none" strike="noStrike" dirty="0">
                <a:solidFill>
                  <a:srgbClr val="132033"/>
                </a:solidFill>
                <a:effectLst/>
                <a:uFillTx/>
                <a:latin typeface="Aptos"/>
              </a:rPr>
              <a:t> y </a:t>
            </a:r>
            <a:r>
              <a:rPr lang="en-US" sz="1800" b="0" u="none" strike="noStrike" dirty="0" err="1">
                <a:solidFill>
                  <a:srgbClr val="132033"/>
                </a:solidFill>
                <a:effectLst/>
                <a:uFillTx/>
                <a:latin typeface="Aptos"/>
              </a:rPr>
              <a:t>continuidad</a:t>
            </a:r>
            <a:r>
              <a:rPr lang="en-US" sz="1800" b="0" u="none" strike="noStrike" dirty="0">
                <a:solidFill>
                  <a:srgbClr val="132033"/>
                </a:solidFill>
                <a:effectLst/>
                <a:uFillTx/>
                <a:latin typeface="Aptos"/>
              </a:rPr>
              <a:t>.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3"/>
          <p:cNvSpPr/>
          <p:nvPr/>
        </p:nvSpPr>
        <p:spPr>
          <a:xfrm>
            <a:off x="11174040" y="64465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CA2BC"/>
                </a:solidFill>
                <a:effectLst/>
                <a:uFillTx/>
                <a:latin typeface="Aptos"/>
              </a:rPr>
              <a:t>11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 0"/>
          <p:cNvSpPr/>
          <p:nvPr/>
        </p:nvSpPr>
        <p:spPr>
          <a:xfrm>
            <a:off x="530280" y="25596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E6BFF"/>
                </a:solidFill>
                <a:effectLst/>
                <a:uFillTx/>
                <a:latin typeface="Aptos"/>
                <a:ea typeface="Aptos"/>
              </a:rPr>
              <a:t>2 · DÓNDE VIVEN LOS DATOS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"/>
          <p:cNvSpPr/>
          <p:nvPr/>
        </p:nvSpPr>
        <p:spPr>
          <a:xfrm>
            <a:off x="530280" y="621720"/>
            <a:ext cx="11064240" cy="360"/>
          </a:xfrm>
          <a:prstGeom prst="line">
            <a:avLst/>
          </a:prstGeom>
          <a:ln w="12600">
            <a:solidFill>
              <a:srgbClr val="BBD7F4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"/>
          <p:cNvSpPr/>
          <p:nvPr/>
        </p:nvSpPr>
        <p:spPr>
          <a:xfrm>
            <a:off x="621720" y="786240"/>
            <a:ext cx="6674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Tres modelos habituales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"/>
          <p:cNvSpPr/>
          <p:nvPr/>
        </p:nvSpPr>
        <p:spPr>
          <a:xfrm>
            <a:off x="621720" y="1334880"/>
            <a:ext cx="6674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Cada modelo cambia quién gestiona qué parte.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4"/>
          <p:cNvSpPr/>
          <p:nvPr/>
        </p:nvSpPr>
        <p:spPr>
          <a:xfrm>
            <a:off x="749880" y="1572840"/>
            <a:ext cx="3309840" cy="306288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5"/>
          <p:cNvSpPr/>
          <p:nvPr/>
        </p:nvSpPr>
        <p:spPr>
          <a:xfrm>
            <a:off x="749880" y="1572840"/>
            <a:ext cx="91080" cy="3062880"/>
          </a:xfrm>
          <a:prstGeom prst="rect">
            <a:avLst/>
          </a:prstGeom>
          <a:solidFill>
            <a:srgbClr val="00A99D"/>
          </a:solidFill>
          <a:ln w="12600">
            <a:solidFill>
              <a:srgbClr val="00A99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6"/>
          <p:cNvSpPr/>
          <p:nvPr/>
        </p:nvSpPr>
        <p:spPr>
          <a:xfrm>
            <a:off x="1024200" y="1755720"/>
            <a:ext cx="2898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On‑premises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7"/>
          <p:cNvSpPr/>
          <p:nvPr/>
        </p:nvSpPr>
        <p:spPr>
          <a:xfrm>
            <a:off x="1024200" y="2176200"/>
            <a:ext cx="2898360" cy="234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Servidores propios en la organización. Control alto, pero también más responsabilidad: electricidad, climatización, copias, mantenimiento, seguridad física y actualizaciones.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8"/>
          <p:cNvSpPr/>
          <p:nvPr/>
        </p:nvSpPr>
        <p:spPr>
          <a:xfrm>
            <a:off x="4443840" y="1572840"/>
            <a:ext cx="3309840" cy="306288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9"/>
          <p:cNvSpPr/>
          <p:nvPr/>
        </p:nvSpPr>
        <p:spPr>
          <a:xfrm>
            <a:off x="4443840" y="1572840"/>
            <a:ext cx="91080" cy="3062880"/>
          </a:xfrm>
          <a:prstGeom prst="rect">
            <a:avLst/>
          </a:prstGeom>
          <a:solidFill>
            <a:srgbClr val="1E6BFF"/>
          </a:solidFill>
          <a:ln w="12600">
            <a:solidFill>
              <a:srgbClr val="1E6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0"/>
          <p:cNvSpPr/>
          <p:nvPr/>
        </p:nvSpPr>
        <p:spPr>
          <a:xfrm>
            <a:off x="4718160" y="1755720"/>
            <a:ext cx="2898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Cloud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1"/>
          <p:cNvSpPr/>
          <p:nvPr/>
        </p:nvSpPr>
        <p:spPr>
          <a:xfrm>
            <a:off x="4718160" y="2176200"/>
            <a:ext cx="2898360" cy="234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Recursos de un proveedor: almacenamiento, servidores, bases de datos o aplicaciones en pago por uso. Escala rápido, pero exige revisar contrato, región y seguridad.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2"/>
          <p:cNvSpPr/>
          <p:nvPr/>
        </p:nvSpPr>
        <p:spPr>
          <a:xfrm>
            <a:off x="8138160" y="1572840"/>
            <a:ext cx="3309840" cy="306288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3"/>
          <p:cNvSpPr/>
          <p:nvPr/>
        </p:nvSpPr>
        <p:spPr>
          <a:xfrm>
            <a:off x="8138160" y="1572840"/>
            <a:ext cx="91080" cy="3062880"/>
          </a:xfrm>
          <a:prstGeom prst="rect">
            <a:avLst/>
          </a:prstGeom>
          <a:solidFill>
            <a:srgbClr val="7B61FF"/>
          </a:solidFill>
          <a:ln w="12600">
            <a:solidFill>
              <a:srgbClr val="7B61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4"/>
          <p:cNvSpPr/>
          <p:nvPr/>
        </p:nvSpPr>
        <p:spPr>
          <a:xfrm>
            <a:off x="8412480" y="1755720"/>
            <a:ext cx="2898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Híbrido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5"/>
          <p:cNvSpPr/>
          <p:nvPr/>
        </p:nvSpPr>
        <p:spPr>
          <a:xfrm>
            <a:off x="8412480" y="2176200"/>
            <a:ext cx="2898360" cy="234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Parte local y parte nube. Muy habitual: datos críticos o sistemas internos locales, servicios colaborativos o copias en cloud.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6"/>
          <p:cNvSpPr/>
          <p:nvPr/>
        </p:nvSpPr>
        <p:spPr>
          <a:xfrm>
            <a:off x="804600" y="5468040"/>
            <a:ext cx="1170000" cy="402120"/>
          </a:xfrm>
          <a:prstGeom prst="roundRect">
            <a:avLst>
              <a:gd name="adj" fmla="val 18182"/>
            </a:avLst>
          </a:prstGeom>
          <a:solidFill>
            <a:srgbClr val="FFF5DF"/>
          </a:solidFill>
          <a:ln w="12600">
            <a:solidFill>
              <a:srgbClr val="FFF5D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7"/>
          <p:cNvSpPr/>
          <p:nvPr/>
        </p:nvSpPr>
        <p:spPr>
          <a:xfrm>
            <a:off x="932760" y="555516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B020"/>
                </a:solidFill>
                <a:effectLst/>
                <a:uFillTx/>
                <a:latin typeface="Aptos"/>
              </a:rPr>
              <a:t>Idea clave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8"/>
          <p:cNvSpPr/>
          <p:nvPr/>
        </p:nvSpPr>
        <p:spPr>
          <a:xfrm>
            <a:off x="2157840" y="5449680"/>
            <a:ext cx="89607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32033"/>
                </a:solidFill>
                <a:effectLst/>
                <a:uFillTx/>
                <a:latin typeface="Aptos"/>
                <a:ea typeface="Aptos"/>
              </a:rPr>
              <a:t>Cloud no significa “sin riesgos”: significa que algunos riesgos cambian de forma y de responsable.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9"/>
          <p:cNvSpPr/>
          <p:nvPr/>
        </p:nvSpPr>
        <p:spPr>
          <a:xfrm>
            <a:off x="11174040" y="64465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CA2BC"/>
                </a:solidFill>
                <a:effectLst/>
                <a:uFillTx/>
                <a:latin typeface="Aptos"/>
              </a:rPr>
              <a:t>12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 0"/>
          <p:cNvSpPr/>
          <p:nvPr/>
        </p:nvSpPr>
        <p:spPr>
          <a:xfrm>
            <a:off x="530280" y="25596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E6BFF"/>
                </a:solidFill>
                <a:effectLst/>
                <a:uFillTx/>
                <a:latin typeface="Aptos"/>
                <a:ea typeface="Aptos"/>
              </a:rPr>
              <a:t>2 · DÓNDE VIVEN LOS DATOS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"/>
          <p:cNvSpPr/>
          <p:nvPr/>
        </p:nvSpPr>
        <p:spPr>
          <a:xfrm>
            <a:off x="530280" y="621720"/>
            <a:ext cx="11064240" cy="360"/>
          </a:xfrm>
          <a:prstGeom prst="line">
            <a:avLst/>
          </a:prstGeom>
          <a:ln w="12600">
            <a:solidFill>
              <a:srgbClr val="BBD7F4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"/>
          <p:cNvSpPr/>
          <p:nvPr/>
        </p:nvSpPr>
        <p:spPr>
          <a:xfrm>
            <a:off x="621720" y="786240"/>
            <a:ext cx="6674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IaaS, PaaS y SaaS sin líos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3"/>
          <p:cNvSpPr/>
          <p:nvPr/>
        </p:nvSpPr>
        <p:spPr>
          <a:xfrm>
            <a:off x="621720" y="1334880"/>
            <a:ext cx="6674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Cuanto más a la derecha, más gestiona el proveedor.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4"/>
          <p:cNvSpPr/>
          <p:nvPr/>
        </p:nvSpPr>
        <p:spPr>
          <a:xfrm>
            <a:off x="777240" y="16275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0233F"/>
                </a:solidFill>
                <a:effectLst/>
                <a:uFillTx/>
                <a:latin typeface="Aptos"/>
                <a:ea typeface="Aptos"/>
              </a:rPr>
              <a:t>On‑premises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5"/>
          <p:cNvSpPr/>
          <p:nvPr/>
        </p:nvSpPr>
        <p:spPr>
          <a:xfrm>
            <a:off x="777240" y="203004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DCEFEA"/>
          </a:solidFill>
          <a:ln w="6480">
            <a:solidFill>
              <a:srgbClr val="88CA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6"/>
          <p:cNvSpPr/>
          <p:nvPr/>
        </p:nvSpPr>
        <p:spPr>
          <a:xfrm>
            <a:off x="868680" y="2052720"/>
            <a:ext cx="1965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00A99D"/>
                </a:solidFill>
                <a:effectLst/>
                <a:uFillTx/>
                <a:latin typeface="Aptos"/>
                <a:ea typeface="Aptos"/>
              </a:rPr>
              <a:t>Aplicación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7"/>
          <p:cNvSpPr/>
          <p:nvPr/>
        </p:nvSpPr>
        <p:spPr>
          <a:xfrm>
            <a:off x="777240" y="238644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DCEFEA"/>
          </a:solidFill>
          <a:ln w="6480">
            <a:solidFill>
              <a:srgbClr val="88CA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8"/>
          <p:cNvSpPr/>
          <p:nvPr/>
        </p:nvSpPr>
        <p:spPr>
          <a:xfrm>
            <a:off x="868680" y="2409480"/>
            <a:ext cx="1965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00A99D"/>
                </a:solidFill>
                <a:effectLst/>
                <a:uFillTx/>
                <a:latin typeface="Aptos"/>
                <a:ea typeface="Aptos"/>
              </a:rPr>
              <a:t>Datos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9"/>
          <p:cNvSpPr/>
          <p:nvPr/>
        </p:nvSpPr>
        <p:spPr>
          <a:xfrm>
            <a:off x="777240" y="274320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DCEFEA"/>
          </a:solidFill>
          <a:ln w="6480">
            <a:solidFill>
              <a:srgbClr val="88CA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0"/>
          <p:cNvSpPr/>
          <p:nvPr/>
        </p:nvSpPr>
        <p:spPr>
          <a:xfrm>
            <a:off x="868680" y="2766240"/>
            <a:ext cx="1965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00A99D"/>
                </a:solidFill>
                <a:effectLst/>
                <a:uFillTx/>
                <a:latin typeface="Aptos"/>
                <a:ea typeface="Aptos"/>
              </a:rPr>
              <a:t>Runtime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1"/>
          <p:cNvSpPr/>
          <p:nvPr/>
        </p:nvSpPr>
        <p:spPr>
          <a:xfrm>
            <a:off x="777240" y="309996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DCEFEA"/>
          </a:solidFill>
          <a:ln w="6480">
            <a:solidFill>
              <a:srgbClr val="88CA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2"/>
          <p:cNvSpPr/>
          <p:nvPr/>
        </p:nvSpPr>
        <p:spPr>
          <a:xfrm>
            <a:off x="868680" y="3122640"/>
            <a:ext cx="1965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00A99D"/>
                </a:solidFill>
                <a:effectLst/>
                <a:uFillTx/>
                <a:latin typeface="Aptos"/>
                <a:ea typeface="Aptos"/>
              </a:rPr>
              <a:t>Middleware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3"/>
          <p:cNvSpPr/>
          <p:nvPr/>
        </p:nvSpPr>
        <p:spPr>
          <a:xfrm>
            <a:off x="777240" y="345636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DCEFEA"/>
          </a:solidFill>
          <a:ln w="6480">
            <a:solidFill>
              <a:srgbClr val="88CA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4"/>
          <p:cNvSpPr/>
          <p:nvPr/>
        </p:nvSpPr>
        <p:spPr>
          <a:xfrm>
            <a:off x="868680" y="3479400"/>
            <a:ext cx="1965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00A99D"/>
                </a:solidFill>
                <a:effectLst/>
                <a:uFillTx/>
                <a:latin typeface="Aptos"/>
                <a:ea typeface="Aptos"/>
              </a:rPr>
              <a:t>Sistema operativo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15"/>
          <p:cNvSpPr/>
          <p:nvPr/>
        </p:nvSpPr>
        <p:spPr>
          <a:xfrm>
            <a:off x="777240" y="381312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DCEFEA"/>
          </a:solidFill>
          <a:ln w="6480">
            <a:solidFill>
              <a:srgbClr val="88CA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6"/>
          <p:cNvSpPr/>
          <p:nvPr/>
        </p:nvSpPr>
        <p:spPr>
          <a:xfrm>
            <a:off x="868680" y="3835800"/>
            <a:ext cx="1965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00A99D"/>
                </a:solidFill>
                <a:effectLst/>
                <a:uFillTx/>
                <a:latin typeface="Aptos"/>
                <a:ea typeface="Aptos"/>
              </a:rPr>
              <a:t>Virtualización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17"/>
          <p:cNvSpPr/>
          <p:nvPr/>
        </p:nvSpPr>
        <p:spPr>
          <a:xfrm>
            <a:off x="777240" y="416952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DCEFEA"/>
          </a:solidFill>
          <a:ln w="6480">
            <a:solidFill>
              <a:srgbClr val="88CA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8"/>
          <p:cNvSpPr/>
          <p:nvPr/>
        </p:nvSpPr>
        <p:spPr>
          <a:xfrm>
            <a:off x="868680" y="4192560"/>
            <a:ext cx="1965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00A99D"/>
                </a:solidFill>
                <a:effectLst/>
                <a:uFillTx/>
                <a:latin typeface="Aptos"/>
                <a:ea typeface="Aptos"/>
              </a:rPr>
              <a:t>Servidores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9"/>
          <p:cNvSpPr/>
          <p:nvPr/>
        </p:nvSpPr>
        <p:spPr>
          <a:xfrm>
            <a:off x="777240" y="452628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DCEFEA"/>
          </a:solidFill>
          <a:ln w="6480">
            <a:solidFill>
              <a:srgbClr val="88CA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20"/>
          <p:cNvSpPr/>
          <p:nvPr/>
        </p:nvSpPr>
        <p:spPr>
          <a:xfrm>
            <a:off x="868680" y="4549320"/>
            <a:ext cx="1965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00A99D"/>
                </a:solidFill>
                <a:effectLst/>
                <a:uFillTx/>
                <a:latin typeface="Aptos"/>
                <a:ea typeface="Aptos"/>
              </a:rPr>
              <a:t>Almacenamiento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21"/>
          <p:cNvSpPr/>
          <p:nvPr/>
        </p:nvSpPr>
        <p:spPr>
          <a:xfrm>
            <a:off x="777240" y="488304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DCEFEA"/>
          </a:solidFill>
          <a:ln w="6480">
            <a:solidFill>
              <a:srgbClr val="88CA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2"/>
          <p:cNvSpPr/>
          <p:nvPr/>
        </p:nvSpPr>
        <p:spPr>
          <a:xfrm>
            <a:off x="868680" y="4905720"/>
            <a:ext cx="1965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00A99D"/>
                </a:solidFill>
                <a:effectLst/>
                <a:uFillTx/>
                <a:latin typeface="Aptos"/>
                <a:ea typeface="Aptos"/>
              </a:rPr>
              <a:t>Red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3"/>
          <p:cNvSpPr/>
          <p:nvPr/>
        </p:nvSpPr>
        <p:spPr>
          <a:xfrm>
            <a:off x="777240" y="5523120"/>
            <a:ext cx="2212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0A99D"/>
                </a:solidFill>
                <a:effectLst/>
                <a:uFillTx/>
                <a:latin typeface="Aptos"/>
                <a:ea typeface="Aptos"/>
              </a:rPr>
              <a:t>Tú gestionas todo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4"/>
          <p:cNvSpPr/>
          <p:nvPr/>
        </p:nvSpPr>
        <p:spPr>
          <a:xfrm>
            <a:off x="3630240" y="16275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0233F"/>
                </a:solidFill>
                <a:effectLst/>
                <a:uFillTx/>
                <a:latin typeface="Aptos"/>
                <a:ea typeface="Aptos"/>
              </a:rPr>
              <a:t>IaaS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25"/>
          <p:cNvSpPr/>
          <p:nvPr/>
        </p:nvSpPr>
        <p:spPr>
          <a:xfrm>
            <a:off x="3630240" y="203004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DCEFEA"/>
          </a:solidFill>
          <a:ln w="6480">
            <a:solidFill>
              <a:srgbClr val="88CA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26"/>
          <p:cNvSpPr/>
          <p:nvPr/>
        </p:nvSpPr>
        <p:spPr>
          <a:xfrm>
            <a:off x="3630240" y="238644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DCEFEA"/>
          </a:solidFill>
          <a:ln w="6480">
            <a:solidFill>
              <a:srgbClr val="88CA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27"/>
          <p:cNvSpPr/>
          <p:nvPr/>
        </p:nvSpPr>
        <p:spPr>
          <a:xfrm>
            <a:off x="3630240" y="274320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DCEFEA"/>
          </a:solidFill>
          <a:ln w="6480">
            <a:solidFill>
              <a:srgbClr val="88CA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28"/>
          <p:cNvSpPr/>
          <p:nvPr/>
        </p:nvSpPr>
        <p:spPr>
          <a:xfrm>
            <a:off x="3630240" y="309996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DCEFEA"/>
          </a:solidFill>
          <a:ln w="6480">
            <a:solidFill>
              <a:srgbClr val="88CA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29"/>
          <p:cNvSpPr/>
          <p:nvPr/>
        </p:nvSpPr>
        <p:spPr>
          <a:xfrm>
            <a:off x="3630240" y="345636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DCEFEA"/>
          </a:solidFill>
          <a:ln w="6480">
            <a:solidFill>
              <a:srgbClr val="88CA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30"/>
          <p:cNvSpPr/>
          <p:nvPr/>
        </p:nvSpPr>
        <p:spPr>
          <a:xfrm>
            <a:off x="3630240" y="381312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E8ECF4"/>
          </a:solidFill>
          <a:ln w="6480">
            <a:solidFill>
              <a:srgbClr val="D0DA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31"/>
          <p:cNvSpPr/>
          <p:nvPr/>
        </p:nvSpPr>
        <p:spPr>
          <a:xfrm>
            <a:off x="3630240" y="416952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E8ECF4"/>
          </a:solidFill>
          <a:ln w="6480">
            <a:solidFill>
              <a:srgbClr val="D0DA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32"/>
          <p:cNvSpPr/>
          <p:nvPr/>
        </p:nvSpPr>
        <p:spPr>
          <a:xfrm>
            <a:off x="3630240" y="452628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E8ECF4"/>
          </a:solidFill>
          <a:ln w="6480">
            <a:solidFill>
              <a:srgbClr val="D0DA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33"/>
          <p:cNvSpPr/>
          <p:nvPr/>
        </p:nvSpPr>
        <p:spPr>
          <a:xfrm>
            <a:off x="3630240" y="488304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E8ECF4"/>
          </a:solidFill>
          <a:ln w="6480">
            <a:solidFill>
              <a:srgbClr val="D0DA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34"/>
          <p:cNvSpPr/>
          <p:nvPr/>
        </p:nvSpPr>
        <p:spPr>
          <a:xfrm>
            <a:off x="3630240" y="5523120"/>
            <a:ext cx="2212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1E6BFF"/>
                </a:solidFill>
                <a:effectLst/>
                <a:uFillTx/>
                <a:latin typeface="Aptos"/>
                <a:ea typeface="Aptos"/>
              </a:rPr>
              <a:t>Proveedor gestiona hardware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35"/>
          <p:cNvSpPr/>
          <p:nvPr/>
        </p:nvSpPr>
        <p:spPr>
          <a:xfrm>
            <a:off x="6483240" y="16275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0233F"/>
                </a:solidFill>
                <a:effectLst/>
                <a:uFillTx/>
                <a:latin typeface="Aptos"/>
                <a:ea typeface="Aptos"/>
              </a:rPr>
              <a:t>PaaS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36"/>
          <p:cNvSpPr/>
          <p:nvPr/>
        </p:nvSpPr>
        <p:spPr>
          <a:xfrm>
            <a:off x="6483240" y="203004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DCEFEA"/>
          </a:solidFill>
          <a:ln w="6480">
            <a:solidFill>
              <a:srgbClr val="88CA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37"/>
          <p:cNvSpPr/>
          <p:nvPr/>
        </p:nvSpPr>
        <p:spPr>
          <a:xfrm>
            <a:off x="6483240" y="238644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DCEFEA"/>
          </a:solidFill>
          <a:ln w="6480">
            <a:solidFill>
              <a:srgbClr val="88CA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38"/>
          <p:cNvSpPr/>
          <p:nvPr/>
        </p:nvSpPr>
        <p:spPr>
          <a:xfrm>
            <a:off x="6483240" y="274320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E8ECF4"/>
          </a:solidFill>
          <a:ln w="6480">
            <a:solidFill>
              <a:srgbClr val="D0DA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39"/>
          <p:cNvSpPr/>
          <p:nvPr/>
        </p:nvSpPr>
        <p:spPr>
          <a:xfrm>
            <a:off x="6483240" y="309996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E8ECF4"/>
          </a:solidFill>
          <a:ln w="6480">
            <a:solidFill>
              <a:srgbClr val="D0DA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40"/>
          <p:cNvSpPr/>
          <p:nvPr/>
        </p:nvSpPr>
        <p:spPr>
          <a:xfrm>
            <a:off x="6483240" y="345636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E8ECF4"/>
          </a:solidFill>
          <a:ln w="6480">
            <a:solidFill>
              <a:srgbClr val="D0DA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41"/>
          <p:cNvSpPr/>
          <p:nvPr/>
        </p:nvSpPr>
        <p:spPr>
          <a:xfrm>
            <a:off x="6483240" y="381312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E8ECF4"/>
          </a:solidFill>
          <a:ln w="6480">
            <a:solidFill>
              <a:srgbClr val="D0DA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42"/>
          <p:cNvSpPr/>
          <p:nvPr/>
        </p:nvSpPr>
        <p:spPr>
          <a:xfrm>
            <a:off x="6483240" y="416952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E8ECF4"/>
          </a:solidFill>
          <a:ln w="6480">
            <a:solidFill>
              <a:srgbClr val="D0DA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43"/>
          <p:cNvSpPr/>
          <p:nvPr/>
        </p:nvSpPr>
        <p:spPr>
          <a:xfrm>
            <a:off x="6483240" y="452628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E8ECF4"/>
          </a:solidFill>
          <a:ln w="6480">
            <a:solidFill>
              <a:srgbClr val="D0DA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44"/>
          <p:cNvSpPr/>
          <p:nvPr/>
        </p:nvSpPr>
        <p:spPr>
          <a:xfrm>
            <a:off x="6483240" y="488304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E8ECF4"/>
          </a:solidFill>
          <a:ln w="6480">
            <a:solidFill>
              <a:srgbClr val="D0DA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45"/>
          <p:cNvSpPr/>
          <p:nvPr/>
        </p:nvSpPr>
        <p:spPr>
          <a:xfrm>
            <a:off x="6483240" y="5523120"/>
            <a:ext cx="2212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B020"/>
                </a:solidFill>
                <a:effectLst/>
                <a:uFillTx/>
                <a:latin typeface="Aptos"/>
                <a:ea typeface="Aptos"/>
              </a:rPr>
              <a:t>Proveedor gestiona más capas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46"/>
          <p:cNvSpPr/>
          <p:nvPr/>
        </p:nvSpPr>
        <p:spPr>
          <a:xfrm>
            <a:off x="9335880" y="16275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0233F"/>
                </a:solidFill>
                <a:effectLst/>
                <a:uFillTx/>
                <a:latin typeface="Aptos"/>
                <a:ea typeface="Aptos"/>
              </a:rPr>
              <a:t>SaaS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47"/>
          <p:cNvSpPr/>
          <p:nvPr/>
        </p:nvSpPr>
        <p:spPr>
          <a:xfrm>
            <a:off x="9335880" y="203004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E8ECF4"/>
          </a:solidFill>
          <a:ln w="6480">
            <a:solidFill>
              <a:srgbClr val="D0DA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48"/>
          <p:cNvSpPr/>
          <p:nvPr/>
        </p:nvSpPr>
        <p:spPr>
          <a:xfrm>
            <a:off x="9335880" y="238644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E8ECF4"/>
          </a:solidFill>
          <a:ln w="6480">
            <a:solidFill>
              <a:srgbClr val="D0DA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49"/>
          <p:cNvSpPr/>
          <p:nvPr/>
        </p:nvSpPr>
        <p:spPr>
          <a:xfrm>
            <a:off x="9335880" y="274320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E8ECF4"/>
          </a:solidFill>
          <a:ln w="6480">
            <a:solidFill>
              <a:srgbClr val="D0DA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50"/>
          <p:cNvSpPr/>
          <p:nvPr/>
        </p:nvSpPr>
        <p:spPr>
          <a:xfrm>
            <a:off x="9335880" y="309996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E8ECF4"/>
          </a:solidFill>
          <a:ln w="6480">
            <a:solidFill>
              <a:srgbClr val="D0DA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51"/>
          <p:cNvSpPr/>
          <p:nvPr/>
        </p:nvSpPr>
        <p:spPr>
          <a:xfrm>
            <a:off x="9335880" y="345636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E8ECF4"/>
          </a:solidFill>
          <a:ln w="6480">
            <a:solidFill>
              <a:srgbClr val="D0DA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52"/>
          <p:cNvSpPr/>
          <p:nvPr/>
        </p:nvSpPr>
        <p:spPr>
          <a:xfrm>
            <a:off x="9335880" y="381312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E8ECF4"/>
          </a:solidFill>
          <a:ln w="6480">
            <a:solidFill>
              <a:srgbClr val="D0DA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53"/>
          <p:cNvSpPr/>
          <p:nvPr/>
        </p:nvSpPr>
        <p:spPr>
          <a:xfrm>
            <a:off x="9335880" y="416952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E8ECF4"/>
          </a:solidFill>
          <a:ln w="6480">
            <a:solidFill>
              <a:srgbClr val="D0DA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54"/>
          <p:cNvSpPr/>
          <p:nvPr/>
        </p:nvSpPr>
        <p:spPr>
          <a:xfrm>
            <a:off x="9335880" y="452628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E8ECF4"/>
          </a:solidFill>
          <a:ln w="6480">
            <a:solidFill>
              <a:srgbClr val="D0DA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55"/>
          <p:cNvSpPr/>
          <p:nvPr/>
        </p:nvSpPr>
        <p:spPr>
          <a:xfrm>
            <a:off x="9335880" y="4883040"/>
            <a:ext cx="2212560" cy="255600"/>
          </a:xfrm>
          <a:prstGeom prst="roundRect">
            <a:avLst>
              <a:gd name="adj" fmla="val 14286"/>
            </a:avLst>
          </a:prstGeom>
          <a:solidFill>
            <a:srgbClr val="E8ECF4"/>
          </a:solidFill>
          <a:ln w="6480">
            <a:solidFill>
              <a:srgbClr val="D0DA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56"/>
          <p:cNvSpPr/>
          <p:nvPr/>
        </p:nvSpPr>
        <p:spPr>
          <a:xfrm>
            <a:off x="9335880" y="5523120"/>
            <a:ext cx="2212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7B61FF"/>
                </a:solidFill>
                <a:effectLst/>
                <a:uFillTx/>
                <a:latin typeface="Aptos"/>
                <a:ea typeface="Aptos"/>
              </a:rPr>
              <a:t>Proveedor gestiona más capas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57"/>
          <p:cNvSpPr/>
          <p:nvPr/>
        </p:nvSpPr>
        <p:spPr>
          <a:xfrm>
            <a:off x="11174040" y="64465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CA2BC"/>
                </a:solidFill>
                <a:effectLst/>
                <a:uFillTx/>
                <a:latin typeface="Aptos"/>
              </a:rPr>
              <a:t>13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 0"/>
          <p:cNvSpPr/>
          <p:nvPr/>
        </p:nvSpPr>
        <p:spPr>
          <a:xfrm>
            <a:off x="530280" y="25596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E6BFF"/>
                </a:solidFill>
                <a:effectLst/>
                <a:uFillTx/>
                <a:latin typeface="Aptos"/>
                <a:ea typeface="Aptos"/>
              </a:rPr>
              <a:t>2 · DÓNDE VIVEN LOS DATOS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1"/>
          <p:cNvSpPr/>
          <p:nvPr/>
        </p:nvSpPr>
        <p:spPr>
          <a:xfrm>
            <a:off x="530280" y="621720"/>
            <a:ext cx="11064240" cy="360"/>
          </a:xfrm>
          <a:prstGeom prst="line">
            <a:avLst/>
          </a:prstGeom>
          <a:ln w="12600">
            <a:solidFill>
              <a:srgbClr val="BBD7F4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"/>
          <p:cNvSpPr/>
          <p:nvPr/>
        </p:nvSpPr>
        <p:spPr>
          <a:xfrm>
            <a:off x="621720" y="786240"/>
            <a:ext cx="6674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77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La nube: ventajas y preguntas incómodas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3"/>
          <p:cNvSpPr/>
          <p:nvPr/>
        </p:nvSpPr>
        <p:spPr>
          <a:xfrm>
            <a:off x="621720" y="1334880"/>
            <a:ext cx="6674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El equilibrio entre comodidad, coste, disponibilidad y control.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4"/>
          <p:cNvSpPr/>
          <p:nvPr/>
        </p:nvSpPr>
        <p:spPr>
          <a:xfrm>
            <a:off x="713160" y="1517760"/>
            <a:ext cx="5257440" cy="35474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5"/>
          <p:cNvSpPr/>
          <p:nvPr/>
        </p:nvSpPr>
        <p:spPr>
          <a:xfrm>
            <a:off x="713160" y="1517760"/>
            <a:ext cx="91080" cy="3547440"/>
          </a:xfrm>
          <a:prstGeom prst="rect">
            <a:avLst/>
          </a:prstGeom>
          <a:solidFill>
            <a:srgbClr val="00B875"/>
          </a:solidFill>
          <a:ln w="12600">
            <a:solidFill>
              <a:srgbClr val="00B87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6"/>
          <p:cNvSpPr/>
          <p:nvPr/>
        </p:nvSpPr>
        <p:spPr>
          <a:xfrm>
            <a:off x="987480" y="170064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Ventajas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7"/>
          <p:cNvSpPr/>
          <p:nvPr/>
        </p:nvSpPr>
        <p:spPr>
          <a:xfrm>
            <a:off x="987480" y="2121480"/>
            <a:ext cx="4845960" cy="283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Escalabilidad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: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recursos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según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demanda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Disponibilidad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: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redundancia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 y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centros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 de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datos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Variedad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 de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servicios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: IA, Big Data, WAF, bases de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datos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,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copias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Coste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inicial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menor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: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pago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 por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uso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frente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 a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mantener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 un CPD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propio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8"/>
          <p:cNvSpPr/>
          <p:nvPr/>
        </p:nvSpPr>
        <p:spPr>
          <a:xfrm>
            <a:off x="6236280" y="1517760"/>
            <a:ext cx="5257440" cy="35474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9"/>
          <p:cNvSpPr/>
          <p:nvPr/>
        </p:nvSpPr>
        <p:spPr>
          <a:xfrm>
            <a:off x="6236280" y="1517760"/>
            <a:ext cx="91080" cy="3547440"/>
          </a:xfrm>
          <a:prstGeom prst="rect">
            <a:avLst/>
          </a:prstGeom>
          <a:solidFill>
            <a:srgbClr val="E84855"/>
          </a:solidFill>
          <a:ln w="12600">
            <a:solidFill>
              <a:srgbClr val="E8485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0"/>
          <p:cNvSpPr/>
          <p:nvPr/>
        </p:nvSpPr>
        <p:spPr>
          <a:xfrm>
            <a:off x="6510600" y="170064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Riesgos y preguntas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1"/>
          <p:cNvSpPr/>
          <p:nvPr/>
        </p:nvSpPr>
        <p:spPr>
          <a:xfrm>
            <a:off x="6510600" y="2121480"/>
            <a:ext cx="4845960" cy="283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¿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En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qué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país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están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 mis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datos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? 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¿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Cumple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el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marco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 legal?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¿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Qué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ocurre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si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 hay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robo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 o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fuga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 de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datos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?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¿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Qué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garantiza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el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proveedor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sobre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confidencialidad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?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¿Y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si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el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proveedor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cae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, cambia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precios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 o </a:t>
            </a:r>
            <a:r>
              <a:rPr lang="en-US" b="0" u="none" strike="noStrike" dirty="0" err="1">
                <a:solidFill>
                  <a:srgbClr val="59708E"/>
                </a:solidFill>
                <a:effectLst/>
                <a:uFillTx/>
                <a:latin typeface="Aptos"/>
              </a:rPr>
              <a:t>desaparece</a:t>
            </a:r>
            <a:r>
              <a:rPr lang="en-US" b="0" u="none" strike="noStrike" dirty="0">
                <a:solidFill>
                  <a:srgbClr val="59708E"/>
                </a:solidFill>
                <a:effectLst/>
                <a:uFillTx/>
                <a:latin typeface="Aptos"/>
              </a:rPr>
              <a:t>?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2"/>
          <p:cNvSpPr/>
          <p:nvPr/>
        </p:nvSpPr>
        <p:spPr>
          <a:xfrm>
            <a:off x="960120" y="5706000"/>
            <a:ext cx="101494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0233F"/>
                </a:solidFill>
                <a:effectLst/>
                <a:uFillTx/>
                <a:latin typeface="Aptos"/>
                <a:ea typeface="Aptos"/>
              </a:rPr>
              <a:t>Conclusión: on‑premises, cloud o híbrido pueden ser seguros o inseguros según cómo se gestionen.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3"/>
          <p:cNvSpPr/>
          <p:nvPr/>
        </p:nvSpPr>
        <p:spPr>
          <a:xfrm>
            <a:off x="11174040" y="64465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CA2BC"/>
                </a:solidFill>
                <a:effectLst/>
                <a:uFillTx/>
                <a:latin typeface="Aptos"/>
              </a:rPr>
              <a:t>14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Image 0" descr="/mnt/data/a_wide_clean_flat_vector_cartoon_illustration_in_batch_4.png"/>
          <p:cNvPicPr/>
          <p:nvPr/>
        </p:nvPicPr>
        <p:blipFill>
          <a:blip r:embed="rId3"/>
          <a:srcRect t="24" b="2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Text 0"/>
          <p:cNvSpPr/>
          <p:nvPr/>
        </p:nvSpPr>
        <p:spPr>
          <a:xfrm>
            <a:off x="640080" y="64008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E6BFF"/>
                </a:solidFill>
                <a:effectLst/>
                <a:uFillTx/>
                <a:latin typeface="Aptos"/>
              </a:rPr>
              <a:t>INTERNET E INFORMACIÓN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"/>
          <p:cNvSpPr/>
          <p:nvPr/>
        </p:nvSpPr>
        <p:spPr>
          <a:xfrm>
            <a:off x="541468" y="895680"/>
            <a:ext cx="3528508" cy="1234080"/>
          </a:xfrm>
          <a:prstGeom prst="rect">
            <a:avLst/>
          </a:prstGeom>
          <a:noFill/>
          <a:ln w="0">
            <a:noFill/>
          </a:ln>
          <a:effectLst>
            <a:outerShdw blurRad="25560" dist="50402" dir="2700000" rotWithShape="0">
              <a:srgbClr val="FFFFFF">
                <a:alpha val="8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La </a:t>
            </a:r>
            <a:r>
              <a:rPr lang="en-US" sz="2800" b="1" u="none" strike="noStrike" dirty="0" err="1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información</a:t>
            </a:r>
            <a:r>
              <a:rPr lang="en-US" sz="2800" b="1" u="none" strike="noStrike" dirty="0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 </a:t>
            </a:r>
            <a:r>
              <a:rPr lang="en-US" sz="2800" b="1" u="none" strike="noStrike" dirty="0" err="1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va</a:t>
            </a:r>
            <a:r>
              <a:rPr lang="en-US" sz="2800" b="1" u="none" strike="noStrike" dirty="0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 </a:t>
            </a:r>
            <a:r>
              <a:rPr lang="en-US" sz="2800" b="1" u="none" strike="noStrike" dirty="0" err="1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rápido</a:t>
            </a:r>
            <a:r>
              <a:rPr lang="en-US" sz="2800" b="1" u="none" strike="noStrike" dirty="0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,</a:t>
            </a:r>
            <a:endParaRPr lang="en-US" sz="2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 err="1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pero</a:t>
            </a:r>
            <a:r>
              <a:rPr lang="en-US" sz="2800" b="1" u="none" strike="noStrike" dirty="0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 no </a:t>
            </a:r>
            <a:r>
              <a:rPr lang="en-US" sz="2800" b="1" u="none" strike="noStrike" dirty="0" err="1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siempre</a:t>
            </a:r>
            <a:r>
              <a:rPr lang="en-US" sz="2800" b="1" u="none" strike="noStrike" dirty="0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 </a:t>
            </a:r>
            <a:r>
              <a:rPr lang="en-US" sz="2800" b="1" u="none" strike="noStrike" dirty="0" err="1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va</a:t>
            </a:r>
            <a:r>
              <a:rPr lang="en-US" sz="2800" b="1" u="none" strike="noStrike" dirty="0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 bien</a:t>
            </a:r>
            <a:endParaRPr lang="en-US" sz="2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3"/>
          <p:cNvSpPr/>
          <p:nvPr/>
        </p:nvSpPr>
        <p:spPr>
          <a:xfrm>
            <a:off x="11174040" y="64465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CA2BC"/>
                </a:solidFill>
                <a:effectLst/>
                <a:uFillTx/>
                <a:latin typeface="Aptos"/>
              </a:rPr>
              <a:t>15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DCACBC2-0568-4066-8664-F789FC3393C6}"/>
              </a:ext>
            </a:extLst>
          </p:cNvPr>
          <p:cNvSpPr txBox="1"/>
          <p:nvPr/>
        </p:nvSpPr>
        <p:spPr>
          <a:xfrm>
            <a:off x="0" y="4692194"/>
            <a:ext cx="281043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Internet es instantáneo, dinámico y temporal. También puede traer información falsa, sesgada o directamente maliciosa.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Text 0"/>
          <p:cNvSpPr/>
          <p:nvPr/>
        </p:nvSpPr>
        <p:spPr>
          <a:xfrm>
            <a:off x="530280" y="25596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E6BFF"/>
                </a:solidFill>
                <a:effectLst/>
                <a:uFillTx/>
                <a:latin typeface="Aptos"/>
                <a:ea typeface="Aptos"/>
              </a:rPr>
              <a:t>3 · CÓMO NOS ENGAÑAN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1"/>
          <p:cNvSpPr/>
          <p:nvPr/>
        </p:nvSpPr>
        <p:spPr>
          <a:xfrm>
            <a:off x="530280" y="621720"/>
            <a:ext cx="11064240" cy="360"/>
          </a:xfrm>
          <a:prstGeom prst="line">
            <a:avLst/>
          </a:prstGeom>
          <a:ln w="12600">
            <a:solidFill>
              <a:srgbClr val="BBD7F4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2"/>
          <p:cNvSpPr/>
          <p:nvPr/>
        </p:nvSpPr>
        <p:spPr>
          <a:xfrm>
            <a:off x="621720" y="786240"/>
            <a:ext cx="6674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Información en Internet: cuatro avisos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3"/>
          <p:cNvSpPr/>
          <p:nvPr/>
        </p:nvSpPr>
        <p:spPr>
          <a:xfrm>
            <a:off x="621720" y="1334880"/>
            <a:ext cx="6674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La ciberseguridad también es pensamiento crítico.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4"/>
          <p:cNvSpPr/>
          <p:nvPr/>
        </p:nvSpPr>
        <p:spPr>
          <a:xfrm>
            <a:off x="786240" y="1572840"/>
            <a:ext cx="2605680" cy="184680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5"/>
          <p:cNvSpPr/>
          <p:nvPr/>
        </p:nvSpPr>
        <p:spPr>
          <a:xfrm>
            <a:off x="786240" y="1572840"/>
            <a:ext cx="91080" cy="1846800"/>
          </a:xfrm>
          <a:prstGeom prst="rect">
            <a:avLst/>
          </a:prstGeom>
          <a:solidFill>
            <a:srgbClr val="1E6BFF"/>
          </a:solidFill>
          <a:ln w="12600">
            <a:solidFill>
              <a:srgbClr val="1E6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6"/>
          <p:cNvSpPr/>
          <p:nvPr/>
        </p:nvSpPr>
        <p:spPr>
          <a:xfrm>
            <a:off x="1060560" y="175572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Instantánea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7"/>
          <p:cNvSpPr/>
          <p:nvPr/>
        </p:nvSpPr>
        <p:spPr>
          <a:xfrm>
            <a:off x="1060560" y="2176200"/>
            <a:ext cx="2194200" cy="11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Esperamos información rápida. La prisa favorece compartir sin comprobar.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8"/>
          <p:cNvSpPr/>
          <p:nvPr/>
        </p:nvSpPr>
        <p:spPr>
          <a:xfrm>
            <a:off x="3602880" y="1572840"/>
            <a:ext cx="2605680" cy="184680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9"/>
          <p:cNvSpPr/>
          <p:nvPr/>
        </p:nvSpPr>
        <p:spPr>
          <a:xfrm>
            <a:off x="3602880" y="1572840"/>
            <a:ext cx="91080" cy="1846800"/>
          </a:xfrm>
          <a:prstGeom prst="rect">
            <a:avLst/>
          </a:prstGeom>
          <a:solidFill>
            <a:srgbClr val="00A99D"/>
          </a:solidFill>
          <a:ln w="12600">
            <a:solidFill>
              <a:srgbClr val="00A99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0"/>
          <p:cNvSpPr/>
          <p:nvPr/>
        </p:nvSpPr>
        <p:spPr>
          <a:xfrm>
            <a:off x="3877200" y="175572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Dinámica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1"/>
          <p:cNvSpPr/>
          <p:nvPr/>
        </p:nvSpPr>
        <p:spPr>
          <a:xfrm>
            <a:off x="3877200" y="2176200"/>
            <a:ext cx="2194200" cy="11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Cambia continuamente. Una fuente actualizada vale más que una abandonada.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12"/>
          <p:cNvSpPr/>
          <p:nvPr/>
        </p:nvSpPr>
        <p:spPr>
          <a:xfrm>
            <a:off x="6419160" y="1572840"/>
            <a:ext cx="2605680" cy="184680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13"/>
          <p:cNvSpPr/>
          <p:nvPr/>
        </p:nvSpPr>
        <p:spPr>
          <a:xfrm>
            <a:off x="6419160" y="1572840"/>
            <a:ext cx="91080" cy="1846800"/>
          </a:xfrm>
          <a:prstGeom prst="rect">
            <a:avLst/>
          </a:prstGeom>
          <a:solidFill>
            <a:srgbClr val="FFB020"/>
          </a:solidFill>
          <a:ln w="12600">
            <a:solidFill>
              <a:srgbClr val="FFB02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4"/>
          <p:cNvSpPr/>
          <p:nvPr/>
        </p:nvSpPr>
        <p:spPr>
          <a:xfrm>
            <a:off x="6693480" y="175572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Temporal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5"/>
          <p:cNvSpPr/>
          <p:nvPr/>
        </p:nvSpPr>
        <p:spPr>
          <a:xfrm>
            <a:off x="6693480" y="2176200"/>
            <a:ext cx="2194200" cy="11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Hoy existe, mañana puede desaparecer o cambiar.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16"/>
          <p:cNvSpPr/>
          <p:nvPr/>
        </p:nvSpPr>
        <p:spPr>
          <a:xfrm>
            <a:off x="9235440" y="1572840"/>
            <a:ext cx="2605680" cy="184680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7"/>
          <p:cNvSpPr/>
          <p:nvPr/>
        </p:nvSpPr>
        <p:spPr>
          <a:xfrm>
            <a:off x="9235440" y="1572840"/>
            <a:ext cx="91080" cy="1846800"/>
          </a:xfrm>
          <a:prstGeom prst="rect">
            <a:avLst/>
          </a:prstGeom>
          <a:solidFill>
            <a:srgbClr val="E84855"/>
          </a:solidFill>
          <a:ln w="12600">
            <a:solidFill>
              <a:srgbClr val="E8485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8"/>
          <p:cNvSpPr/>
          <p:nvPr/>
        </p:nvSpPr>
        <p:spPr>
          <a:xfrm>
            <a:off x="9509760" y="175572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Falsa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9"/>
          <p:cNvSpPr/>
          <p:nvPr/>
        </p:nvSpPr>
        <p:spPr>
          <a:xfrm>
            <a:off x="9509760" y="2176200"/>
            <a:ext cx="2194200" cy="11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Puede parecer seria, estar sesgada o buscar manipular.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0"/>
          <p:cNvSpPr/>
          <p:nvPr/>
        </p:nvSpPr>
        <p:spPr>
          <a:xfrm>
            <a:off x="877680" y="4224600"/>
            <a:ext cx="20570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Posverdad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21"/>
          <p:cNvSpPr/>
          <p:nvPr/>
        </p:nvSpPr>
        <p:spPr>
          <a:xfrm>
            <a:off x="3063240" y="4160520"/>
            <a:ext cx="80647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Cuando pesan más las emociones y opiniones que los datos objetivos. En seguridad se aprovecha para engañar: phishing, bulos, páginas falsas o malware.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22"/>
          <p:cNvSpPr/>
          <p:nvPr/>
        </p:nvSpPr>
        <p:spPr>
          <a:xfrm>
            <a:off x="11174040" y="64465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CA2BC"/>
                </a:solidFill>
                <a:effectLst/>
                <a:uFillTx/>
                <a:latin typeface="Aptos"/>
              </a:rPr>
              <a:t>16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Text 0"/>
          <p:cNvSpPr/>
          <p:nvPr/>
        </p:nvSpPr>
        <p:spPr>
          <a:xfrm>
            <a:off x="530280" y="25596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E6BFF"/>
                </a:solidFill>
                <a:effectLst/>
                <a:uFillTx/>
                <a:latin typeface="Aptos"/>
                <a:ea typeface="Aptos"/>
              </a:rPr>
              <a:t>3 · CÓMO NOS ENGAÑAN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1"/>
          <p:cNvSpPr/>
          <p:nvPr/>
        </p:nvSpPr>
        <p:spPr>
          <a:xfrm>
            <a:off x="530280" y="621720"/>
            <a:ext cx="11064240" cy="360"/>
          </a:xfrm>
          <a:prstGeom prst="line">
            <a:avLst/>
          </a:prstGeom>
          <a:ln w="12600">
            <a:solidFill>
              <a:srgbClr val="BBD7F4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2"/>
          <p:cNvSpPr/>
          <p:nvPr/>
        </p:nvSpPr>
        <p:spPr>
          <a:xfrm>
            <a:off x="621720" y="786240"/>
            <a:ext cx="6674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Checklist antes de creer o compartir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3"/>
          <p:cNvSpPr/>
          <p:nvPr/>
        </p:nvSpPr>
        <p:spPr>
          <a:xfrm>
            <a:off x="621720" y="1334880"/>
            <a:ext cx="6674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Sirve para noticias, enlaces, correos y mensajes sospechosos.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4"/>
          <p:cNvSpPr/>
          <p:nvPr/>
        </p:nvSpPr>
        <p:spPr>
          <a:xfrm>
            <a:off x="841320" y="1572840"/>
            <a:ext cx="402120" cy="402120"/>
          </a:xfrm>
          <a:prstGeom prst="ellipse">
            <a:avLst/>
          </a:prstGeom>
          <a:solidFill>
            <a:srgbClr val="1E6BFF"/>
          </a:solidFill>
          <a:ln w="12600">
            <a:solidFill>
              <a:srgbClr val="1E6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5"/>
          <p:cNvSpPr/>
          <p:nvPr/>
        </p:nvSpPr>
        <p:spPr>
          <a:xfrm>
            <a:off x="841320" y="166896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6"/>
          <p:cNvSpPr/>
          <p:nvPr/>
        </p:nvSpPr>
        <p:spPr>
          <a:xfrm>
            <a:off x="1408320" y="1554480"/>
            <a:ext cx="20113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20" b="1" u="none" strike="noStrike">
                <a:solidFill>
                  <a:srgbClr val="10233F"/>
                </a:solidFill>
                <a:effectLst/>
                <a:uFillTx/>
                <a:latin typeface="Aptos"/>
                <a:ea typeface="Aptos"/>
              </a:rPr>
              <a:t>Fuente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7"/>
          <p:cNvSpPr/>
          <p:nvPr/>
        </p:nvSpPr>
        <p:spPr>
          <a:xfrm>
            <a:off x="1408320" y="1892880"/>
            <a:ext cx="41601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¿Quién lo publica? ¿Es una web real?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8"/>
          <p:cNvSpPr/>
          <p:nvPr/>
        </p:nvSpPr>
        <p:spPr>
          <a:xfrm>
            <a:off x="6236280" y="1572840"/>
            <a:ext cx="402120" cy="402120"/>
          </a:xfrm>
          <a:prstGeom prst="ellipse">
            <a:avLst/>
          </a:prstGeom>
          <a:solidFill>
            <a:srgbClr val="00A99D"/>
          </a:solidFill>
          <a:ln w="12600">
            <a:solidFill>
              <a:srgbClr val="00A99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9"/>
          <p:cNvSpPr/>
          <p:nvPr/>
        </p:nvSpPr>
        <p:spPr>
          <a:xfrm>
            <a:off x="6236280" y="166896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10"/>
          <p:cNvSpPr/>
          <p:nvPr/>
        </p:nvSpPr>
        <p:spPr>
          <a:xfrm>
            <a:off x="6803280" y="1554480"/>
            <a:ext cx="20113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20" b="1" u="none" strike="noStrike">
                <a:solidFill>
                  <a:srgbClr val="10233F"/>
                </a:solidFill>
                <a:effectLst/>
                <a:uFillTx/>
                <a:latin typeface="Aptos"/>
                <a:ea typeface="Aptos"/>
              </a:rPr>
              <a:t>Más allá del titular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11"/>
          <p:cNvSpPr/>
          <p:nvPr/>
        </p:nvSpPr>
        <p:spPr>
          <a:xfrm>
            <a:off x="6803280" y="1892880"/>
            <a:ext cx="41601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¿El contenido dice lo mismo que el titular?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12"/>
          <p:cNvSpPr/>
          <p:nvPr/>
        </p:nvSpPr>
        <p:spPr>
          <a:xfrm>
            <a:off x="841320" y="2797920"/>
            <a:ext cx="402120" cy="402120"/>
          </a:xfrm>
          <a:prstGeom prst="ellipse">
            <a:avLst/>
          </a:prstGeom>
          <a:solidFill>
            <a:srgbClr val="FFB020"/>
          </a:solidFill>
          <a:ln w="12600">
            <a:solidFill>
              <a:srgbClr val="FFB02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3"/>
          <p:cNvSpPr/>
          <p:nvPr/>
        </p:nvSpPr>
        <p:spPr>
          <a:xfrm>
            <a:off x="841320" y="289404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4"/>
          <p:cNvSpPr/>
          <p:nvPr/>
        </p:nvSpPr>
        <p:spPr>
          <a:xfrm>
            <a:off x="1408320" y="2779920"/>
            <a:ext cx="20113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20" b="1" u="none" strike="noStrike">
                <a:solidFill>
                  <a:srgbClr val="10233F"/>
                </a:solidFill>
                <a:effectLst/>
                <a:uFillTx/>
                <a:latin typeface="Aptos"/>
                <a:ea typeface="Aptos"/>
              </a:rPr>
              <a:t>Autor y fecha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15"/>
          <p:cNvSpPr/>
          <p:nvPr/>
        </p:nvSpPr>
        <p:spPr>
          <a:xfrm>
            <a:off x="1408320" y="3117960"/>
            <a:ext cx="41601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¿Quién firma? ¿Está actualizado?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16"/>
          <p:cNvSpPr/>
          <p:nvPr/>
        </p:nvSpPr>
        <p:spPr>
          <a:xfrm>
            <a:off x="6236280" y="2797920"/>
            <a:ext cx="402120" cy="402120"/>
          </a:xfrm>
          <a:prstGeom prst="ellipse">
            <a:avLst/>
          </a:prstGeom>
          <a:solidFill>
            <a:srgbClr val="7B61FF"/>
          </a:solidFill>
          <a:ln w="12600">
            <a:solidFill>
              <a:srgbClr val="7B61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17"/>
          <p:cNvSpPr/>
          <p:nvPr/>
        </p:nvSpPr>
        <p:spPr>
          <a:xfrm>
            <a:off x="6236280" y="289404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8"/>
          <p:cNvSpPr/>
          <p:nvPr/>
        </p:nvSpPr>
        <p:spPr>
          <a:xfrm>
            <a:off x="6803280" y="2779920"/>
            <a:ext cx="20113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20" b="1" u="none" strike="noStrike">
                <a:solidFill>
                  <a:srgbClr val="10233F"/>
                </a:solidFill>
                <a:effectLst/>
                <a:uFillTx/>
                <a:latin typeface="Aptos"/>
                <a:ea typeface="Aptos"/>
              </a:rPr>
              <a:t>Otras fuentes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19"/>
          <p:cNvSpPr/>
          <p:nvPr/>
        </p:nvSpPr>
        <p:spPr>
          <a:xfrm>
            <a:off x="6803280" y="3117960"/>
            <a:ext cx="41601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¿Lo confirma alguien fiable e independiente?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20"/>
          <p:cNvSpPr/>
          <p:nvPr/>
        </p:nvSpPr>
        <p:spPr>
          <a:xfrm>
            <a:off x="841320" y="4023360"/>
            <a:ext cx="402120" cy="402120"/>
          </a:xfrm>
          <a:prstGeom prst="ellipse">
            <a:avLst/>
          </a:prstGeom>
          <a:solidFill>
            <a:srgbClr val="E84855"/>
          </a:solidFill>
          <a:ln w="12600">
            <a:solidFill>
              <a:srgbClr val="E8485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21"/>
          <p:cNvSpPr/>
          <p:nvPr/>
        </p:nvSpPr>
        <p:spPr>
          <a:xfrm>
            <a:off x="841320" y="411948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22"/>
          <p:cNvSpPr/>
          <p:nvPr/>
        </p:nvSpPr>
        <p:spPr>
          <a:xfrm>
            <a:off x="1408320" y="4005000"/>
            <a:ext cx="20113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20" b="1" u="none" strike="noStrike">
                <a:solidFill>
                  <a:srgbClr val="10233F"/>
                </a:solidFill>
                <a:effectLst/>
                <a:uFillTx/>
                <a:latin typeface="Aptos"/>
                <a:ea typeface="Aptos"/>
              </a:rPr>
              <a:t>Sesgo y emoción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23"/>
          <p:cNvSpPr/>
          <p:nvPr/>
        </p:nvSpPr>
        <p:spPr>
          <a:xfrm>
            <a:off x="1408320" y="4343400"/>
            <a:ext cx="41601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¿Busca enfadarte o asustarte?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24"/>
          <p:cNvSpPr/>
          <p:nvPr/>
        </p:nvSpPr>
        <p:spPr>
          <a:xfrm>
            <a:off x="6236280" y="4023360"/>
            <a:ext cx="402120" cy="402120"/>
          </a:xfrm>
          <a:prstGeom prst="ellipse">
            <a:avLst/>
          </a:prstGeom>
          <a:solidFill>
            <a:srgbClr val="00B875"/>
          </a:solidFill>
          <a:ln w="12600">
            <a:solidFill>
              <a:srgbClr val="00B87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25"/>
          <p:cNvSpPr/>
          <p:nvPr/>
        </p:nvSpPr>
        <p:spPr>
          <a:xfrm>
            <a:off x="6236280" y="411948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26"/>
          <p:cNvSpPr/>
          <p:nvPr/>
        </p:nvSpPr>
        <p:spPr>
          <a:xfrm>
            <a:off x="6803280" y="4005000"/>
            <a:ext cx="20113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20" b="1" u="none" strike="noStrike">
                <a:solidFill>
                  <a:srgbClr val="10233F"/>
                </a:solidFill>
                <a:effectLst/>
                <a:uFillTx/>
                <a:latin typeface="Aptos"/>
                <a:ea typeface="Aptos"/>
              </a:rPr>
              <a:t>Experto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27"/>
          <p:cNvSpPr/>
          <p:nvPr/>
        </p:nvSpPr>
        <p:spPr>
          <a:xfrm>
            <a:off x="6803280" y="4343400"/>
            <a:ext cx="41601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Consulta antes de abrir, pagar o instalar.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28"/>
          <p:cNvSpPr/>
          <p:nvPr/>
        </p:nvSpPr>
        <p:spPr>
          <a:xfrm>
            <a:off x="960120" y="5824800"/>
            <a:ext cx="98751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32033"/>
                </a:solidFill>
                <a:effectLst/>
                <a:uFillTx/>
                <a:latin typeface="Aptos"/>
                <a:ea typeface="Aptos"/>
              </a:rPr>
              <a:t>Regla de oro: si te mete prisa, te pide datos o te promete algo increíble, para y comprueba.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29"/>
          <p:cNvSpPr/>
          <p:nvPr/>
        </p:nvSpPr>
        <p:spPr>
          <a:xfrm>
            <a:off x="11174040" y="64465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CA2BC"/>
                </a:solidFill>
                <a:effectLst/>
                <a:uFillTx/>
                <a:latin typeface="Aptos"/>
              </a:rPr>
              <a:t>17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Text 0"/>
          <p:cNvSpPr/>
          <p:nvPr/>
        </p:nvSpPr>
        <p:spPr>
          <a:xfrm>
            <a:off x="530280" y="25596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E6BFF"/>
                </a:solidFill>
                <a:effectLst/>
                <a:uFillTx/>
                <a:latin typeface="Aptos"/>
                <a:ea typeface="Aptos"/>
              </a:rPr>
              <a:t>3 · CÓMO NOS ATACAN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1"/>
          <p:cNvSpPr/>
          <p:nvPr/>
        </p:nvSpPr>
        <p:spPr>
          <a:xfrm>
            <a:off x="530280" y="621720"/>
            <a:ext cx="11064240" cy="360"/>
          </a:xfrm>
          <a:prstGeom prst="line">
            <a:avLst/>
          </a:prstGeom>
          <a:ln w="12600">
            <a:solidFill>
              <a:srgbClr val="BBD7F4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2"/>
          <p:cNvSpPr/>
          <p:nvPr/>
        </p:nvSpPr>
        <p:spPr>
          <a:xfrm>
            <a:off x="621720" y="786240"/>
            <a:ext cx="6674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Amenazas frecuentes que sí verás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3"/>
          <p:cNvSpPr/>
          <p:nvPr/>
        </p:nvSpPr>
        <p:spPr>
          <a:xfrm>
            <a:off x="621720" y="1334880"/>
            <a:ext cx="6674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No son teoría: aparecen en empresas, móviles y ordenadores personales.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4"/>
          <p:cNvSpPr/>
          <p:nvPr/>
        </p:nvSpPr>
        <p:spPr>
          <a:xfrm>
            <a:off x="749880" y="1609200"/>
            <a:ext cx="3218400" cy="126144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5"/>
          <p:cNvSpPr/>
          <p:nvPr/>
        </p:nvSpPr>
        <p:spPr>
          <a:xfrm>
            <a:off x="749880" y="1609200"/>
            <a:ext cx="91080" cy="1261440"/>
          </a:xfrm>
          <a:prstGeom prst="rect">
            <a:avLst/>
          </a:prstGeom>
          <a:solidFill>
            <a:srgbClr val="E84855"/>
          </a:solidFill>
          <a:ln w="12600">
            <a:solidFill>
              <a:srgbClr val="E8485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6"/>
          <p:cNvSpPr/>
          <p:nvPr/>
        </p:nvSpPr>
        <p:spPr>
          <a:xfrm>
            <a:off x="1024200" y="1792080"/>
            <a:ext cx="28069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Phishing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7"/>
          <p:cNvSpPr/>
          <p:nvPr/>
        </p:nvSpPr>
        <p:spPr>
          <a:xfrm>
            <a:off x="1024200" y="2212920"/>
            <a:ext cx="28069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Correo, SMS o web falsa para robar datos.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8"/>
          <p:cNvSpPr/>
          <p:nvPr/>
        </p:nvSpPr>
        <p:spPr>
          <a:xfrm>
            <a:off x="4453200" y="1609200"/>
            <a:ext cx="3218400" cy="126144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9"/>
          <p:cNvSpPr/>
          <p:nvPr/>
        </p:nvSpPr>
        <p:spPr>
          <a:xfrm>
            <a:off x="4453200" y="1609200"/>
            <a:ext cx="91080" cy="1261440"/>
          </a:xfrm>
          <a:prstGeom prst="rect">
            <a:avLst/>
          </a:prstGeom>
          <a:solidFill>
            <a:srgbClr val="FFB020"/>
          </a:solidFill>
          <a:ln w="12600">
            <a:solidFill>
              <a:srgbClr val="FFB02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10"/>
          <p:cNvSpPr/>
          <p:nvPr/>
        </p:nvSpPr>
        <p:spPr>
          <a:xfrm>
            <a:off x="4727520" y="1792080"/>
            <a:ext cx="28069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Malware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1"/>
          <p:cNvSpPr/>
          <p:nvPr/>
        </p:nvSpPr>
        <p:spPr>
          <a:xfrm>
            <a:off x="4727520" y="2212920"/>
            <a:ext cx="28069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Virus, troyanos, spyware o infostealers.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12"/>
          <p:cNvSpPr/>
          <p:nvPr/>
        </p:nvSpPr>
        <p:spPr>
          <a:xfrm>
            <a:off x="8156520" y="1609200"/>
            <a:ext cx="3218400" cy="126144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13"/>
          <p:cNvSpPr/>
          <p:nvPr/>
        </p:nvSpPr>
        <p:spPr>
          <a:xfrm>
            <a:off x="8156520" y="1609200"/>
            <a:ext cx="91080" cy="1261440"/>
          </a:xfrm>
          <a:prstGeom prst="rect">
            <a:avLst/>
          </a:prstGeom>
          <a:solidFill>
            <a:srgbClr val="7B61FF"/>
          </a:solidFill>
          <a:ln w="12600">
            <a:solidFill>
              <a:srgbClr val="7B61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14"/>
          <p:cNvSpPr/>
          <p:nvPr/>
        </p:nvSpPr>
        <p:spPr>
          <a:xfrm>
            <a:off x="8430840" y="1792080"/>
            <a:ext cx="28069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Ransomware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15"/>
          <p:cNvSpPr/>
          <p:nvPr/>
        </p:nvSpPr>
        <p:spPr>
          <a:xfrm>
            <a:off x="8430840" y="2212920"/>
            <a:ext cx="28069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Cifra archivos y pide rescate.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16"/>
          <p:cNvSpPr/>
          <p:nvPr/>
        </p:nvSpPr>
        <p:spPr>
          <a:xfrm>
            <a:off x="749880" y="3310200"/>
            <a:ext cx="3218400" cy="126144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17"/>
          <p:cNvSpPr/>
          <p:nvPr/>
        </p:nvSpPr>
        <p:spPr>
          <a:xfrm>
            <a:off x="749880" y="3310200"/>
            <a:ext cx="91080" cy="1261440"/>
          </a:xfrm>
          <a:prstGeom prst="rect">
            <a:avLst/>
          </a:prstGeom>
          <a:solidFill>
            <a:srgbClr val="1E6BFF"/>
          </a:solidFill>
          <a:ln w="12600">
            <a:solidFill>
              <a:srgbClr val="1E6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8"/>
          <p:cNvSpPr/>
          <p:nvPr/>
        </p:nvSpPr>
        <p:spPr>
          <a:xfrm>
            <a:off x="1024200" y="3493080"/>
            <a:ext cx="28069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DDoS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9"/>
          <p:cNvSpPr/>
          <p:nvPr/>
        </p:nvSpPr>
        <p:spPr>
          <a:xfrm>
            <a:off x="1024200" y="3913560"/>
            <a:ext cx="28069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Satura un servicio para dejarlo fuera.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20"/>
          <p:cNvSpPr/>
          <p:nvPr/>
        </p:nvSpPr>
        <p:spPr>
          <a:xfrm>
            <a:off x="4453200" y="3310200"/>
            <a:ext cx="3218400" cy="126144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21"/>
          <p:cNvSpPr/>
          <p:nvPr/>
        </p:nvSpPr>
        <p:spPr>
          <a:xfrm>
            <a:off x="4453200" y="3310200"/>
            <a:ext cx="91080" cy="1261440"/>
          </a:xfrm>
          <a:prstGeom prst="rect">
            <a:avLst/>
          </a:prstGeom>
          <a:solidFill>
            <a:srgbClr val="00A99D"/>
          </a:solidFill>
          <a:ln w="12600">
            <a:solidFill>
              <a:srgbClr val="00A99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22"/>
          <p:cNvSpPr/>
          <p:nvPr/>
        </p:nvSpPr>
        <p:spPr>
          <a:xfrm>
            <a:off x="4727520" y="3493080"/>
            <a:ext cx="28069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MitM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23"/>
          <p:cNvSpPr/>
          <p:nvPr/>
        </p:nvSpPr>
        <p:spPr>
          <a:xfrm>
            <a:off x="4727520" y="3913560"/>
            <a:ext cx="28069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Alguien intercepta la comunicación.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24"/>
          <p:cNvSpPr/>
          <p:nvPr/>
        </p:nvSpPr>
        <p:spPr>
          <a:xfrm>
            <a:off x="8156520" y="3310200"/>
            <a:ext cx="3218400" cy="126144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25"/>
          <p:cNvSpPr/>
          <p:nvPr/>
        </p:nvSpPr>
        <p:spPr>
          <a:xfrm>
            <a:off x="8156520" y="3310200"/>
            <a:ext cx="91080" cy="1261440"/>
          </a:xfrm>
          <a:prstGeom prst="rect">
            <a:avLst/>
          </a:prstGeom>
          <a:solidFill>
            <a:srgbClr val="00B875"/>
          </a:solidFill>
          <a:ln w="12600">
            <a:solidFill>
              <a:srgbClr val="00B87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26"/>
          <p:cNvSpPr/>
          <p:nvPr/>
        </p:nvSpPr>
        <p:spPr>
          <a:xfrm>
            <a:off x="8430840" y="3493080"/>
            <a:ext cx="28069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Contraseñas débiles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27"/>
          <p:cNvSpPr/>
          <p:nvPr/>
        </p:nvSpPr>
        <p:spPr>
          <a:xfrm>
            <a:off x="8430840" y="3913560"/>
            <a:ext cx="28069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Reutilización, filtraciones y fuerza bruta.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28"/>
          <p:cNvSpPr/>
          <p:nvPr/>
        </p:nvSpPr>
        <p:spPr>
          <a:xfrm>
            <a:off x="987480" y="564192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0233F"/>
                </a:solidFill>
                <a:effectLst/>
                <a:uFillTx/>
                <a:latin typeface="Aptos"/>
                <a:ea typeface="Aptos"/>
              </a:rPr>
              <a:t>El ataque casi siempre combina técnica + oportunidad + error humano.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29"/>
          <p:cNvSpPr/>
          <p:nvPr/>
        </p:nvSpPr>
        <p:spPr>
          <a:xfrm>
            <a:off x="11174040" y="64465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CA2BC"/>
                </a:solidFill>
                <a:effectLst/>
                <a:uFillTx/>
                <a:latin typeface="Aptos"/>
              </a:rPr>
              <a:t>18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Image 0" descr="/mnt/data/wide_flat_vector_illustration_on_a_clean_tech_cyb_batch_5.png"/>
          <p:cNvPicPr/>
          <p:nvPr/>
        </p:nvPicPr>
        <p:blipFill>
          <a:blip r:embed="rId3"/>
          <a:srcRect t="24" b="2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7" name="Text 0"/>
          <p:cNvSpPr/>
          <p:nvPr/>
        </p:nvSpPr>
        <p:spPr>
          <a:xfrm>
            <a:off x="640080" y="64008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E6BFF"/>
                </a:solidFill>
                <a:effectLst/>
                <a:uFillTx/>
                <a:latin typeface="Aptos"/>
              </a:rPr>
              <a:t>DEFENSA BÁSICA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"/>
          <p:cNvSpPr/>
          <p:nvPr/>
        </p:nvSpPr>
        <p:spPr>
          <a:xfrm>
            <a:off x="219167" y="1098642"/>
            <a:ext cx="4066391" cy="1234080"/>
          </a:xfrm>
          <a:prstGeom prst="rect">
            <a:avLst/>
          </a:prstGeom>
          <a:noFill/>
          <a:ln w="0">
            <a:noFill/>
          </a:ln>
          <a:effectLst>
            <a:outerShdw blurRad="25560" dist="50402" dir="2700000" rotWithShape="0">
              <a:srgbClr val="FFFFFF">
                <a:alpha val="8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 dirty="0" err="1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Medidas</a:t>
            </a:r>
            <a:r>
              <a:rPr lang="en-US" sz="4200" b="1" u="none" strike="noStrike" dirty="0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 </a:t>
            </a:r>
            <a:r>
              <a:rPr lang="en-US" sz="4200" b="1" u="none" strike="noStrike" dirty="0" err="1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sencillas</a:t>
            </a:r>
            <a:r>
              <a:rPr lang="en-US" sz="4200" b="1" u="none" strike="noStrike" dirty="0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,</a:t>
            </a:r>
            <a:endParaRPr lang="en-US" sz="4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 dirty="0" err="1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impacto</a:t>
            </a:r>
            <a:r>
              <a:rPr lang="en-US" sz="4200" b="1" u="none" strike="noStrike" dirty="0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 </a:t>
            </a:r>
            <a:r>
              <a:rPr lang="en-US" sz="4200" b="1" u="none" strike="noStrike" dirty="0" err="1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enorme</a:t>
            </a:r>
            <a:endParaRPr lang="en-US" sz="4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2"/>
          <p:cNvSpPr/>
          <p:nvPr/>
        </p:nvSpPr>
        <p:spPr>
          <a:xfrm>
            <a:off x="309246" y="5210701"/>
            <a:ext cx="3886235" cy="822600"/>
          </a:xfrm>
          <a:prstGeom prst="rect">
            <a:avLst/>
          </a:prstGeom>
          <a:noFill/>
          <a:ln w="0">
            <a:noFill/>
          </a:ln>
          <a:effectLst>
            <a:outerShdw blurRad="25560" dist="50402" dir="2700000" rotWithShape="0">
              <a:srgbClr val="FFFFFF">
                <a:alpha val="8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 dirty="0" err="1">
                <a:solidFill>
                  <a:srgbClr val="132033"/>
                </a:solidFill>
                <a:effectLst/>
                <a:uFillTx/>
                <a:latin typeface="Aptos"/>
              </a:rPr>
              <a:t>Actualizar</a:t>
            </a:r>
            <a:r>
              <a:rPr lang="en-US" sz="1800" b="0" u="none" strike="noStrike" dirty="0">
                <a:solidFill>
                  <a:srgbClr val="132033"/>
                </a:solidFill>
                <a:effectLst/>
                <a:uFillTx/>
                <a:latin typeface="Aptos"/>
              </a:rPr>
              <a:t>, usar MFA, </a:t>
            </a:r>
            <a:r>
              <a:rPr lang="en-US" sz="1800" b="0" u="none" strike="noStrike" dirty="0" err="1">
                <a:solidFill>
                  <a:srgbClr val="132033"/>
                </a:solidFill>
                <a:effectLst/>
                <a:uFillTx/>
                <a:latin typeface="Aptos"/>
              </a:rPr>
              <a:t>hacer</a:t>
            </a:r>
            <a:r>
              <a:rPr lang="en-US" sz="1800" b="0" u="none" strike="noStrike" dirty="0">
                <a:solidFill>
                  <a:srgbClr val="132033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 dirty="0" err="1">
                <a:solidFill>
                  <a:srgbClr val="132033"/>
                </a:solidFill>
                <a:effectLst/>
                <a:uFillTx/>
                <a:latin typeface="Aptos"/>
              </a:rPr>
              <a:t>copias</a:t>
            </a:r>
            <a:r>
              <a:rPr lang="en-US" sz="1800" b="0" u="none" strike="noStrike" dirty="0">
                <a:solidFill>
                  <a:srgbClr val="132033"/>
                </a:solidFill>
                <a:effectLst/>
                <a:uFillTx/>
                <a:latin typeface="Aptos"/>
              </a:rPr>
              <a:t>, </a:t>
            </a:r>
            <a:r>
              <a:rPr lang="en-US" sz="1800" b="0" u="none" strike="noStrike" dirty="0" err="1">
                <a:solidFill>
                  <a:srgbClr val="132033"/>
                </a:solidFill>
                <a:effectLst/>
                <a:uFillTx/>
                <a:latin typeface="Aptos"/>
              </a:rPr>
              <a:t>aplicar</a:t>
            </a:r>
            <a:r>
              <a:rPr lang="en-US" sz="1800" b="0" u="none" strike="noStrike" dirty="0">
                <a:solidFill>
                  <a:srgbClr val="132033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 dirty="0" err="1">
                <a:solidFill>
                  <a:srgbClr val="132033"/>
                </a:solidFill>
                <a:effectLst/>
                <a:uFillTx/>
                <a:latin typeface="Aptos"/>
              </a:rPr>
              <a:t>mínimo</a:t>
            </a:r>
            <a:r>
              <a:rPr lang="en-US" sz="1800" b="0" u="none" strike="noStrike" dirty="0">
                <a:solidFill>
                  <a:srgbClr val="132033"/>
                </a:solidFill>
                <a:effectLst/>
                <a:uFillTx/>
                <a:latin typeface="Aptos"/>
              </a:rPr>
              <a:t> privilegio y </a:t>
            </a:r>
            <a:r>
              <a:rPr lang="en-US" sz="1800" b="0" u="none" strike="noStrike" dirty="0" err="1">
                <a:solidFill>
                  <a:srgbClr val="132033"/>
                </a:solidFill>
                <a:effectLst/>
                <a:uFillTx/>
                <a:latin typeface="Aptos"/>
              </a:rPr>
              <a:t>cifrar</a:t>
            </a:r>
            <a:r>
              <a:rPr lang="en-US" sz="1800" b="0" u="none" strike="noStrike" dirty="0">
                <a:solidFill>
                  <a:srgbClr val="132033"/>
                </a:solidFill>
                <a:effectLst/>
                <a:uFillTx/>
                <a:latin typeface="Aptos"/>
              </a:rPr>
              <a:t> reduce </a:t>
            </a:r>
            <a:r>
              <a:rPr lang="en-US" sz="1800" b="0" u="none" strike="noStrike" dirty="0" err="1">
                <a:solidFill>
                  <a:srgbClr val="132033"/>
                </a:solidFill>
                <a:effectLst/>
                <a:uFillTx/>
                <a:latin typeface="Aptos"/>
              </a:rPr>
              <a:t>mucho</a:t>
            </a:r>
            <a:r>
              <a:rPr lang="en-US" sz="1800" b="0" u="none" strike="noStrike" dirty="0">
                <a:solidFill>
                  <a:srgbClr val="132033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 dirty="0" err="1">
                <a:solidFill>
                  <a:srgbClr val="132033"/>
                </a:solidFill>
                <a:effectLst/>
                <a:uFillTx/>
                <a:latin typeface="Aptos"/>
              </a:rPr>
              <a:t>el</a:t>
            </a:r>
            <a:r>
              <a:rPr lang="en-US" sz="1800" b="0" u="none" strike="noStrike" dirty="0">
                <a:solidFill>
                  <a:srgbClr val="132033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 dirty="0" err="1">
                <a:solidFill>
                  <a:srgbClr val="132033"/>
                </a:solidFill>
                <a:effectLst/>
                <a:uFillTx/>
                <a:latin typeface="Aptos"/>
              </a:rPr>
              <a:t>riesgo</a:t>
            </a:r>
            <a:r>
              <a:rPr lang="en-US" sz="1800" b="0" u="none" strike="noStrike" dirty="0">
                <a:solidFill>
                  <a:srgbClr val="132033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 dirty="0" err="1">
                <a:solidFill>
                  <a:srgbClr val="132033"/>
                </a:solidFill>
                <a:effectLst/>
                <a:uFillTx/>
                <a:latin typeface="Aptos"/>
              </a:rPr>
              <a:t>cotidiano</a:t>
            </a:r>
            <a:r>
              <a:rPr lang="en-US" sz="1800" b="0" u="none" strike="noStrike" dirty="0">
                <a:solidFill>
                  <a:srgbClr val="132033"/>
                </a:solidFill>
                <a:effectLst/>
                <a:uFillTx/>
                <a:latin typeface="Aptos"/>
              </a:rPr>
              <a:t>.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3"/>
          <p:cNvSpPr/>
          <p:nvPr/>
        </p:nvSpPr>
        <p:spPr>
          <a:xfrm>
            <a:off x="11174040" y="64465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CA2BC"/>
                </a:solidFill>
                <a:effectLst/>
                <a:uFillTx/>
                <a:latin typeface="Aptos"/>
              </a:rPr>
              <a:t>19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Text 0"/>
          <p:cNvSpPr/>
          <p:nvPr/>
        </p:nvSpPr>
        <p:spPr>
          <a:xfrm>
            <a:off x="530280" y="25596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E6BFF"/>
                </a:solidFill>
                <a:effectLst/>
                <a:uFillTx/>
                <a:latin typeface="Aptos"/>
                <a:ea typeface="Aptos"/>
              </a:rPr>
              <a:t>4 · CÓMO NOS DEFENDEMOS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1"/>
          <p:cNvSpPr/>
          <p:nvPr/>
        </p:nvSpPr>
        <p:spPr>
          <a:xfrm>
            <a:off x="530280" y="621720"/>
            <a:ext cx="11064240" cy="360"/>
          </a:xfrm>
          <a:prstGeom prst="line">
            <a:avLst/>
          </a:prstGeom>
          <a:ln w="12600">
            <a:solidFill>
              <a:srgbClr val="BBD7F4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2"/>
          <p:cNvSpPr/>
          <p:nvPr/>
        </p:nvSpPr>
        <p:spPr>
          <a:xfrm>
            <a:off x="621720" y="786240"/>
            <a:ext cx="6674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Kit mínimo de supervivencia digital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3"/>
          <p:cNvSpPr/>
          <p:nvPr/>
        </p:nvSpPr>
        <p:spPr>
          <a:xfrm>
            <a:off x="621720" y="1334880"/>
            <a:ext cx="6674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Añadido básico para aplicar desde el primer día.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4"/>
          <p:cNvSpPr/>
          <p:nvPr/>
        </p:nvSpPr>
        <p:spPr>
          <a:xfrm>
            <a:off x="841320" y="1627560"/>
            <a:ext cx="2925720" cy="50256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120">
            <a:solidFill>
              <a:srgbClr val="1E6BFF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5"/>
          <p:cNvSpPr/>
          <p:nvPr/>
        </p:nvSpPr>
        <p:spPr>
          <a:xfrm>
            <a:off x="987480" y="1700640"/>
            <a:ext cx="26330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32033"/>
                </a:solidFill>
                <a:effectLst/>
                <a:uFillTx/>
                <a:latin typeface="Aptos"/>
              </a:rPr>
              <a:t>Actualizar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6"/>
          <p:cNvSpPr/>
          <p:nvPr/>
        </p:nvSpPr>
        <p:spPr>
          <a:xfrm>
            <a:off x="951120" y="2286000"/>
            <a:ext cx="27428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Sistema, navegador, apps y firmware.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7"/>
          <p:cNvSpPr/>
          <p:nvPr/>
        </p:nvSpPr>
        <p:spPr>
          <a:xfrm>
            <a:off x="4517280" y="1627560"/>
            <a:ext cx="2925720" cy="50256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120">
            <a:solidFill>
              <a:srgbClr val="00A99D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8"/>
          <p:cNvSpPr/>
          <p:nvPr/>
        </p:nvSpPr>
        <p:spPr>
          <a:xfrm>
            <a:off x="4663440" y="1700640"/>
            <a:ext cx="26330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32033"/>
                </a:solidFill>
                <a:effectLst/>
                <a:uFillTx/>
                <a:latin typeface="Aptos"/>
              </a:rPr>
              <a:t>MFA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9"/>
          <p:cNvSpPr/>
          <p:nvPr/>
        </p:nvSpPr>
        <p:spPr>
          <a:xfrm>
            <a:off x="4626720" y="2286000"/>
            <a:ext cx="27428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Segundo factor: app, llave o código.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10"/>
          <p:cNvSpPr/>
          <p:nvPr/>
        </p:nvSpPr>
        <p:spPr>
          <a:xfrm>
            <a:off x="8192880" y="1627560"/>
            <a:ext cx="2925720" cy="50256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120">
            <a:solidFill>
              <a:srgbClr val="FFB020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11"/>
          <p:cNvSpPr/>
          <p:nvPr/>
        </p:nvSpPr>
        <p:spPr>
          <a:xfrm>
            <a:off x="8339400" y="1700640"/>
            <a:ext cx="26330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32033"/>
                </a:solidFill>
                <a:effectLst/>
                <a:uFillTx/>
                <a:latin typeface="Aptos"/>
              </a:rPr>
              <a:t>Contraseñas únicas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12"/>
          <p:cNvSpPr/>
          <p:nvPr/>
        </p:nvSpPr>
        <p:spPr>
          <a:xfrm>
            <a:off x="8302680" y="2286000"/>
            <a:ext cx="27428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Gestor de contraseñas y longitud.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13"/>
          <p:cNvSpPr/>
          <p:nvPr/>
        </p:nvSpPr>
        <p:spPr>
          <a:xfrm>
            <a:off x="841320" y="3072240"/>
            <a:ext cx="2925720" cy="50256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120">
            <a:solidFill>
              <a:srgbClr val="7B61FF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14"/>
          <p:cNvSpPr/>
          <p:nvPr/>
        </p:nvSpPr>
        <p:spPr>
          <a:xfrm>
            <a:off x="987480" y="3145680"/>
            <a:ext cx="26330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32033"/>
                </a:solidFill>
                <a:effectLst/>
                <a:uFillTx/>
                <a:latin typeface="Aptos"/>
              </a:rPr>
              <a:t>Copias 3‑2‑1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15"/>
          <p:cNvSpPr/>
          <p:nvPr/>
        </p:nvSpPr>
        <p:spPr>
          <a:xfrm>
            <a:off x="951120" y="3730680"/>
            <a:ext cx="27428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3 copias, 2 soportes, 1 fuera/cloud.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16"/>
          <p:cNvSpPr/>
          <p:nvPr/>
        </p:nvSpPr>
        <p:spPr>
          <a:xfrm>
            <a:off x="4517280" y="3072240"/>
            <a:ext cx="2925720" cy="50256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120">
            <a:solidFill>
              <a:srgbClr val="00B875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17"/>
          <p:cNvSpPr/>
          <p:nvPr/>
        </p:nvSpPr>
        <p:spPr>
          <a:xfrm>
            <a:off x="4663440" y="3145680"/>
            <a:ext cx="26330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32033"/>
                </a:solidFill>
                <a:effectLst/>
                <a:uFillTx/>
                <a:latin typeface="Aptos"/>
              </a:rPr>
              <a:t>Mínimo privilegio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18"/>
          <p:cNvSpPr/>
          <p:nvPr/>
        </p:nvSpPr>
        <p:spPr>
          <a:xfrm>
            <a:off x="4626720" y="3730680"/>
            <a:ext cx="27428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Cada usuario solo lo que necesita.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19"/>
          <p:cNvSpPr/>
          <p:nvPr/>
        </p:nvSpPr>
        <p:spPr>
          <a:xfrm>
            <a:off x="8192880" y="3072240"/>
            <a:ext cx="2925720" cy="50256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120">
            <a:solidFill>
              <a:srgbClr val="E84855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20"/>
          <p:cNvSpPr/>
          <p:nvPr/>
        </p:nvSpPr>
        <p:spPr>
          <a:xfrm>
            <a:off x="8339400" y="3145680"/>
            <a:ext cx="26330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32033"/>
                </a:solidFill>
                <a:effectLst/>
                <a:uFillTx/>
                <a:latin typeface="Aptos"/>
              </a:rPr>
              <a:t>Cifrado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21"/>
          <p:cNvSpPr/>
          <p:nvPr/>
        </p:nvSpPr>
        <p:spPr>
          <a:xfrm>
            <a:off x="8302680" y="3730680"/>
            <a:ext cx="27428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Datos ilegibles si se pierde el equipo.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22"/>
          <p:cNvSpPr/>
          <p:nvPr/>
        </p:nvSpPr>
        <p:spPr>
          <a:xfrm>
            <a:off x="987480" y="5367600"/>
            <a:ext cx="98751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0233F"/>
                </a:solidFill>
                <a:effectLst/>
                <a:uFillTx/>
                <a:latin typeface="Aptos"/>
                <a:ea typeface="Aptos"/>
              </a:rPr>
              <a:t>No hay medida mágica. La defensa funciona por capas: varias medidas pequeñas que se apoyan entre sí.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23"/>
          <p:cNvSpPr/>
          <p:nvPr/>
        </p:nvSpPr>
        <p:spPr>
          <a:xfrm>
            <a:off x="11174040" y="64465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CA2BC"/>
                </a:solidFill>
                <a:effectLst/>
                <a:uFillTx/>
                <a:latin typeface="Aptos"/>
              </a:rPr>
              <a:t>20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Image 0" descr="/mnt/data/a_wide_cinematic_modern_flat_vector_illustration_batch_6.png"/>
          <p:cNvPicPr/>
          <p:nvPr/>
        </p:nvPicPr>
        <p:blipFill>
          <a:blip r:embed="rId3"/>
          <a:srcRect t="24" b="2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6" name="Text 0"/>
          <p:cNvSpPr/>
          <p:nvPr/>
        </p:nvSpPr>
        <p:spPr>
          <a:xfrm>
            <a:off x="640080" y="640080"/>
            <a:ext cx="3657240" cy="255600"/>
          </a:xfrm>
          <a:prstGeom prst="rect">
            <a:avLst/>
          </a:prstGeom>
          <a:noFill/>
          <a:ln w="0">
            <a:noFill/>
          </a:ln>
          <a:effectLst>
            <a:outerShdw blurRad="25560" dist="50402" dir="27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9FE3FF"/>
                </a:solidFill>
                <a:effectLst/>
                <a:uFillTx/>
                <a:latin typeface="Aptos"/>
              </a:rPr>
              <a:t>RESPUESTA A INCIDENTES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1"/>
          <p:cNvSpPr/>
          <p:nvPr/>
        </p:nvSpPr>
        <p:spPr>
          <a:xfrm>
            <a:off x="1933077" y="1920510"/>
            <a:ext cx="9382461" cy="1234080"/>
          </a:xfrm>
          <a:prstGeom prst="rect">
            <a:avLst/>
          </a:prstGeom>
          <a:noFill/>
          <a:ln w="0">
            <a:noFill/>
          </a:ln>
          <a:effectLst>
            <a:outerShdw blurRad="38160" dist="50402" dir="2700000" rotWithShape="0">
              <a:srgbClr val="000000">
                <a:alpha val="5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 dirty="0" err="1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Cuando</a:t>
            </a:r>
            <a:r>
              <a:rPr lang="en-US" sz="4200" b="1" u="none" strike="noStrike" dirty="0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 algo </a:t>
            </a:r>
            <a:r>
              <a:rPr lang="en-US" sz="4200" b="1" u="none" strike="noStrike" dirty="0" err="1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falla,el</a:t>
            </a:r>
            <a:r>
              <a:rPr lang="en-US" sz="4200" b="1" u="none" strike="noStrike" dirty="0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 </a:t>
            </a:r>
            <a:r>
              <a:rPr lang="en-US" sz="4200" b="1" u="none" strike="noStrike" dirty="0" err="1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orden</a:t>
            </a:r>
            <a:r>
              <a:rPr lang="en-US" sz="4200" b="1" u="none" strike="noStrike" dirty="0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 </a:t>
            </a:r>
            <a:r>
              <a:rPr lang="en-US" sz="4200" b="1" u="none" strike="noStrike" dirty="0" err="1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importa</a:t>
            </a:r>
            <a:endParaRPr lang="en-US" sz="4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2"/>
          <p:cNvSpPr/>
          <p:nvPr/>
        </p:nvSpPr>
        <p:spPr>
          <a:xfrm>
            <a:off x="1492588" y="5075100"/>
            <a:ext cx="3384212" cy="822600"/>
          </a:xfrm>
          <a:prstGeom prst="rect">
            <a:avLst/>
          </a:prstGeom>
          <a:noFill/>
          <a:ln w="0">
            <a:noFill/>
          </a:ln>
          <a:effectLst>
            <a:outerShdw blurRad="25560" dist="50402" dir="27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 dirty="0" err="1">
                <a:solidFill>
                  <a:srgbClr val="DCEBFF"/>
                </a:solidFill>
                <a:effectLst/>
                <a:uFillTx/>
                <a:latin typeface="Aptos"/>
              </a:rPr>
              <a:t>Detectar</a:t>
            </a:r>
            <a:r>
              <a:rPr lang="en-US" sz="1800" b="0" u="none" strike="noStrike" dirty="0">
                <a:solidFill>
                  <a:srgbClr val="DCEBFF"/>
                </a:solidFill>
                <a:effectLst/>
                <a:uFillTx/>
                <a:latin typeface="Aptos"/>
              </a:rPr>
              <a:t>, </a:t>
            </a:r>
            <a:r>
              <a:rPr lang="en-US" sz="1800" b="0" u="none" strike="noStrike" dirty="0" err="1">
                <a:solidFill>
                  <a:srgbClr val="DCEBFF"/>
                </a:solidFill>
                <a:effectLst/>
                <a:uFillTx/>
                <a:latin typeface="Aptos"/>
              </a:rPr>
              <a:t>contener</a:t>
            </a:r>
            <a:r>
              <a:rPr lang="en-US" sz="1800" b="0" u="none" strike="noStrike" dirty="0">
                <a:solidFill>
                  <a:srgbClr val="DCEBFF"/>
                </a:solidFill>
                <a:effectLst/>
                <a:uFillTx/>
                <a:latin typeface="Aptos"/>
              </a:rPr>
              <a:t>, </a:t>
            </a:r>
            <a:r>
              <a:rPr lang="en-US" sz="1800" b="0" u="none" strike="noStrike" dirty="0" err="1">
                <a:solidFill>
                  <a:srgbClr val="DCEBFF"/>
                </a:solidFill>
                <a:effectLst/>
                <a:uFillTx/>
                <a:latin typeface="Aptos"/>
              </a:rPr>
              <a:t>erradicar</a:t>
            </a:r>
            <a:r>
              <a:rPr lang="en-US" sz="1800" b="0" u="none" strike="noStrike" dirty="0">
                <a:solidFill>
                  <a:srgbClr val="DCEBFF"/>
                </a:solidFill>
                <a:effectLst/>
                <a:uFillTx/>
                <a:latin typeface="Aptos"/>
              </a:rPr>
              <a:t>, </a:t>
            </a:r>
            <a:r>
              <a:rPr lang="en-US" sz="1800" b="0" u="none" strike="noStrike" dirty="0" err="1">
                <a:solidFill>
                  <a:srgbClr val="DCEBFF"/>
                </a:solidFill>
                <a:effectLst/>
                <a:uFillTx/>
                <a:latin typeface="Aptos"/>
              </a:rPr>
              <a:t>recuperar</a:t>
            </a:r>
            <a:r>
              <a:rPr lang="en-US" sz="1800" b="0" u="none" strike="noStrike" dirty="0">
                <a:solidFill>
                  <a:srgbClr val="DCEBFF"/>
                </a:solidFill>
                <a:effectLst/>
                <a:uFillTx/>
                <a:latin typeface="Aptos"/>
              </a:rPr>
              <a:t> y </a:t>
            </a:r>
            <a:r>
              <a:rPr lang="en-US" sz="1800" b="0" u="none" strike="noStrike" dirty="0" err="1">
                <a:solidFill>
                  <a:srgbClr val="DCEBFF"/>
                </a:solidFill>
                <a:effectLst/>
                <a:uFillTx/>
                <a:latin typeface="Aptos"/>
              </a:rPr>
              <a:t>aprender</a:t>
            </a:r>
            <a:r>
              <a:rPr lang="en-US" sz="1800" b="0" u="none" strike="noStrike" dirty="0">
                <a:solidFill>
                  <a:srgbClr val="DCEBFF"/>
                </a:solidFill>
                <a:effectLst/>
                <a:uFillTx/>
                <a:latin typeface="Aptos"/>
              </a:rPr>
              <a:t>. La </a:t>
            </a:r>
            <a:r>
              <a:rPr lang="en-US" sz="1800" b="0" u="none" strike="noStrike" dirty="0" err="1">
                <a:solidFill>
                  <a:srgbClr val="DCEBFF"/>
                </a:solidFill>
                <a:effectLst/>
                <a:uFillTx/>
                <a:latin typeface="Aptos"/>
              </a:rPr>
              <a:t>peor</a:t>
            </a:r>
            <a:r>
              <a:rPr lang="en-US" sz="1800" b="0" u="none" strike="noStrike" dirty="0">
                <a:solidFill>
                  <a:srgbClr val="DCEBFF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 dirty="0" err="1">
                <a:solidFill>
                  <a:srgbClr val="DCEBFF"/>
                </a:solidFill>
                <a:effectLst/>
                <a:uFillTx/>
                <a:latin typeface="Aptos"/>
              </a:rPr>
              <a:t>respuesta</a:t>
            </a:r>
            <a:r>
              <a:rPr lang="en-US" sz="1800" b="0" u="none" strike="noStrike" dirty="0">
                <a:solidFill>
                  <a:srgbClr val="DCEBFF"/>
                </a:solidFill>
                <a:effectLst/>
                <a:uFillTx/>
                <a:latin typeface="Aptos"/>
              </a:rPr>
              <a:t> es </a:t>
            </a:r>
            <a:r>
              <a:rPr lang="en-US" sz="1800" b="0" u="none" strike="noStrike" dirty="0" err="1">
                <a:solidFill>
                  <a:srgbClr val="DCEBFF"/>
                </a:solidFill>
                <a:effectLst/>
                <a:uFillTx/>
                <a:latin typeface="Aptos"/>
              </a:rPr>
              <a:t>improvisar</a:t>
            </a:r>
            <a:r>
              <a:rPr lang="en-US" sz="1800" b="0" u="none" strike="noStrike" dirty="0">
                <a:solidFill>
                  <a:srgbClr val="DCEBFF"/>
                </a:solidFill>
                <a:effectLst/>
                <a:uFillTx/>
                <a:latin typeface="Aptos"/>
              </a:rPr>
              <a:t> sin </a:t>
            </a:r>
            <a:r>
              <a:rPr lang="en-US" sz="1800" b="0" u="none" strike="noStrike" dirty="0" err="1">
                <a:solidFill>
                  <a:srgbClr val="DCEBFF"/>
                </a:solidFill>
                <a:effectLst/>
                <a:uFillTx/>
                <a:latin typeface="Aptos"/>
              </a:rPr>
              <a:t>evidencias</a:t>
            </a:r>
            <a:r>
              <a:rPr lang="en-US" sz="1800" b="0" u="none" strike="noStrike" dirty="0">
                <a:solidFill>
                  <a:srgbClr val="DCEBFF"/>
                </a:solidFill>
                <a:effectLst/>
                <a:uFillTx/>
                <a:latin typeface="Aptos"/>
              </a:rPr>
              <a:t>.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3"/>
          <p:cNvSpPr/>
          <p:nvPr/>
        </p:nvSpPr>
        <p:spPr>
          <a:xfrm>
            <a:off x="11174040" y="64465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CA2BC"/>
                </a:solidFill>
                <a:effectLst/>
                <a:uFillTx/>
                <a:latin typeface="Aptos"/>
              </a:rPr>
              <a:t>21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Text 0"/>
          <p:cNvSpPr/>
          <p:nvPr/>
        </p:nvSpPr>
        <p:spPr>
          <a:xfrm>
            <a:off x="530280" y="25596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E6BFF"/>
                </a:solidFill>
                <a:effectLst/>
                <a:uFillTx/>
                <a:latin typeface="Aptos"/>
                <a:ea typeface="Aptos"/>
              </a:rPr>
              <a:t>4 · CÓMO NOS DEFENDEMOS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1"/>
          <p:cNvSpPr/>
          <p:nvPr/>
        </p:nvSpPr>
        <p:spPr>
          <a:xfrm>
            <a:off x="530280" y="621720"/>
            <a:ext cx="11064240" cy="360"/>
          </a:xfrm>
          <a:prstGeom prst="line">
            <a:avLst/>
          </a:prstGeom>
          <a:ln w="12600">
            <a:solidFill>
              <a:srgbClr val="BBD7F4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2"/>
          <p:cNvSpPr/>
          <p:nvPr/>
        </p:nvSpPr>
        <p:spPr>
          <a:xfrm>
            <a:off x="621720" y="786240"/>
            <a:ext cx="6674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Legalidad, privacidad y ética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3"/>
          <p:cNvSpPr/>
          <p:nvPr/>
        </p:nvSpPr>
        <p:spPr>
          <a:xfrm>
            <a:off x="621720" y="1334880"/>
            <a:ext cx="6674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La ciberseguridad protege personas, no solo máquinas.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4"/>
          <p:cNvSpPr/>
          <p:nvPr/>
        </p:nvSpPr>
        <p:spPr>
          <a:xfrm>
            <a:off x="749880" y="1536120"/>
            <a:ext cx="3291480" cy="18741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5"/>
          <p:cNvSpPr/>
          <p:nvPr/>
        </p:nvSpPr>
        <p:spPr>
          <a:xfrm>
            <a:off x="749880" y="1536120"/>
            <a:ext cx="91080" cy="1874160"/>
          </a:xfrm>
          <a:prstGeom prst="rect">
            <a:avLst/>
          </a:prstGeom>
          <a:solidFill>
            <a:srgbClr val="1E6BFF"/>
          </a:solidFill>
          <a:ln w="12600">
            <a:solidFill>
              <a:srgbClr val="1E6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6"/>
          <p:cNvSpPr/>
          <p:nvPr/>
        </p:nvSpPr>
        <p:spPr>
          <a:xfrm>
            <a:off x="1024200" y="1719000"/>
            <a:ext cx="2880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Datos personales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7"/>
          <p:cNvSpPr/>
          <p:nvPr/>
        </p:nvSpPr>
        <p:spPr>
          <a:xfrm>
            <a:off x="1024200" y="2139840"/>
            <a:ext cx="2880000" cy="11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RGPD: tratar solo lo necesario, con finalidad clara y medidas de seguridad.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8"/>
          <p:cNvSpPr/>
          <p:nvPr/>
        </p:nvSpPr>
        <p:spPr>
          <a:xfrm>
            <a:off x="4443840" y="1536120"/>
            <a:ext cx="3291480" cy="18741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9"/>
          <p:cNvSpPr/>
          <p:nvPr/>
        </p:nvSpPr>
        <p:spPr>
          <a:xfrm>
            <a:off x="4443840" y="1536120"/>
            <a:ext cx="91080" cy="1874160"/>
          </a:xfrm>
          <a:prstGeom prst="rect">
            <a:avLst/>
          </a:prstGeom>
          <a:solidFill>
            <a:srgbClr val="00A99D"/>
          </a:solidFill>
          <a:ln w="12600">
            <a:solidFill>
              <a:srgbClr val="00A99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10"/>
          <p:cNvSpPr/>
          <p:nvPr/>
        </p:nvSpPr>
        <p:spPr>
          <a:xfrm>
            <a:off x="4718160" y="1719000"/>
            <a:ext cx="2880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Evidencias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11"/>
          <p:cNvSpPr/>
          <p:nvPr/>
        </p:nvSpPr>
        <p:spPr>
          <a:xfrm>
            <a:off x="4718160" y="2139840"/>
            <a:ext cx="2880000" cy="11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Registrar qué ha pasado sin manipular pruebas: fechas, capturas, logs y cadena de custodia básica.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12"/>
          <p:cNvSpPr/>
          <p:nvPr/>
        </p:nvSpPr>
        <p:spPr>
          <a:xfrm>
            <a:off x="8138160" y="1536120"/>
            <a:ext cx="3291480" cy="18741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13"/>
          <p:cNvSpPr/>
          <p:nvPr/>
        </p:nvSpPr>
        <p:spPr>
          <a:xfrm>
            <a:off x="8138160" y="1536120"/>
            <a:ext cx="91080" cy="1874160"/>
          </a:xfrm>
          <a:prstGeom prst="rect">
            <a:avLst/>
          </a:prstGeom>
          <a:solidFill>
            <a:srgbClr val="E84855"/>
          </a:solidFill>
          <a:ln w="12600">
            <a:solidFill>
              <a:srgbClr val="E8485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14"/>
          <p:cNvSpPr/>
          <p:nvPr/>
        </p:nvSpPr>
        <p:spPr>
          <a:xfrm>
            <a:off x="8412480" y="1719000"/>
            <a:ext cx="2880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Laboratorio autorizado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15"/>
          <p:cNvSpPr/>
          <p:nvPr/>
        </p:nvSpPr>
        <p:spPr>
          <a:xfrm>
            <a:off x="8412480" y="2139840"/>
            <a:ext cx="2880000" cy="11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Nunca probar ataques sobre sistemas ajenos. Solo entornos propios, simuladores o permiso explícito.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16"/>
          <p:cNvSpPr/>
          <p:nvPr/>
        </p:nvSpPr>
        <p:spPr>
          <a:xfrm>
            <a:off x="2578680" y="4187880"/>
            <a:ext cx="3291480" cy="148104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17"/>
          <p:cNvSpPr/>
          <p:nvPr/>
        </p:nvSpPr>
        <p:spPr>
          <a:xfrm>
            <a:off x="2578680" y="4187880"/>
            <a:ext cx="91080" cy="1481040"/>
          </a:xfrm>
          <a:prstGeom prst="rect">
            <a:avLst/>
          </a:prstGeom>
          <a:solidFill>
            <a:srgbClr val="7B61FF"/>
          </a:solidFill>
          <a:ln w="12600">
            <a:solidFill>
              <a:srgbClr val="7B61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18"/>
          <p:cNvSpPr/>
          <p:nvPr/>
        </p:nvSpPr>
        <p:spPr>
          <a:xfrm>
            <a:off x="2853000" y="4370760"/>
            <a:ext cx="2880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IA y datos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19"/>
          <p:cNvSpPr/>
          <p:nvPr/>
        </p:nvSpPr>
        <p:spPr>
          <a:xfrm>
            <a:off x="2853000" y="4791600"/>
            <a:ext cx="2880000" cy="76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No introducir datos sensibles en herramientas externas sin autorización.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20"/>
          <p:cNvSpPr/>
          <p:nvPr/>
        </p:nvSpPr>
        <p:spPr>
          <a:xfrm>
            <a:off x="6309360" y="4187880"/>
            <a:ext cx="3291480" cy="148104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21"/>
          <p:cNvSpPr/>
          <p:nvPr/>
        </p:nvSpPr>
        <p:spPr>
          <a:xfrm>
            <a:off x="6309360" y="4187880"/>
            <a:ext cx="91080" cy="1481040"/>
          </a:xfrm>
          <a:prstGeom prst="rect">
            <a:avLst/>
          </a:prstGeom>
          <a:solidFill>
            <a:srgbClr val="FFB020"/>
          </a:solidFill>
          <a:ln w="12600">
            <a:solidFill>
              <a:srgbClr val="FFB02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22"/>
          <p:cNvSpPr/>
          <p:nvPr/>
        </p:nvSpPr>
        <p:spPr>
          <a:xfrm>
            <a:off x="6583680" y="4370760"/>
            <a:ext cx="2880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Responsabilidad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23"/>
          <p:cNvSpPr/>
          <p:nvPr/>
        </p:nvSpPr>
        <p:spPr>
          <a:xfrm>
            <a:off x="6583680" y="4791600"/>
            <a:ext cx="2880000" cy="76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Saber mucho exige actuar con más cuidado, no con más riesgo.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24"/>
          <p:cNvSpPr/>
          <p:nvPr/>
        </p:nvSpPr>
        <p:spPr>
          <a:xfrm>
            <a:off x="11174040" y="64465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CA2BC"/>
                </a:solidFill>
                <a:effectLst/>
                <a:uFillTx/>
                <a:latin typeface="Aptos"/>
              </a:rPr>
              <a:t>22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Text 0"/>
          <p:cNvSpPr/>
          <p:nvPr/>
        </p:nvSpPr>
        <p:spPr>
          <a:xfrm>
            <a:off x="530280" y="25596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E6BFF"/>
                </a:solidFill>
                <a:effectLst/>
                <a:uFillTx/>
                <a:latin typeface="Aptos"/>
                <a:ea typeface="Aptos"/>
              </a:rPr>
              <a:t>ACTIVIDAD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1"/>
          <p:cNvSpPr/>
          <p:nvPr/>
        </p:nvSpPr>
        <p:spPr>
          <a:xfrm>
            <a:off x="530280" y="621720"/>
            <a:ext cx="11064240" cy="360"/>
          </a:xfrm>
          <a:prstGeom prst="line">
            <a:avLst/>
          </a:prstGeom>
          <a:ln w="12600">
            <a:solidFill>
              <a:srgbClr val="BBD7F4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2"/>
          <p:cNvSpPr/>
          <p:nvPr/>
        </p:nvSpPr>
        <p:spPr>
          <a:xfrm>
            <a:off x="621720" y="786240"/>
            <a:ext cx="6674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Mini caso: “la tienda se ha caído”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3"/>
          <p:cNvSpPr/>
          <p:nvPr/>
        </p:nvSpPr>
        <p:spPr>
          <a:xfrm>
            <a:off x="621720" y="1334880"/>
            <a:ext cx="6674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Trabajo en parejas: 8 minutos para pensar como equipo Blue Team.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4"/>
          <p:cNvSpPr/>
          <p:nvPr/>
        </p:nvSpPr>
        <p:spPr>
          <a:xfrm>
            <a:off x="841320" y="1700640"/>
            <a:ext cx="106066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32033"/>
                </a:solidFill>
                <a:effectLst/>
                <a:uFillTx/>
                <a:latin typeface="Aptos"/>
                <a:ea typeface="Aptos"/>
              </a:rPr>
              <a:t>Situación: una tienda online no responde, varios clientes reciben correos sospechosos y en el servidor aparecen intentos de acceso repetidos.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5"/>
          <p:cNvSpPr/>
          <p:nvPr/>
        </p:nvSpPr>
        <p:spPr>
          <a:xfrm>
            <a:off x="1005840" y="2615040"/>
            <a:ext cx="402120" cy="402120"/>
          </a:xfrm>
          <a:prstGeom prst="ellipse">
            <a:avLst/>
          </a:prstGeom>
          <a:solidFill>
            <a:srgbClr val="1E6BFF"/>
          </a:solidFill>
          <a:ln w="12600">
            <a:solidFill>
              <a:srgbClr val="1E6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6"/>
          <p:cNvSpPr/>
          <p:nvPr/>
        </p:nvSpPr>
        <p:spPr>
          <a:xfrm>
            <a:off x="1005840" y="271116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7"/>
          <p:cNvSpPr/>
          <p:nvPr/>
        </p:nvSpPr>
        <p:spPr>
          <a:xfrm>
            <a:off x="1572840" y="2642760"/>
            <a:ext cx="42516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0233F"/>
                </a:solidFill>
                <a:effectLst/>
                <a:uFillTx/>
                <a:latin typeface="Aptos"/>
                <a:ea typeface="Aptos"/>
              </a:rPr>
              <a:t>¿Qué activos están en juego?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8"/>
          <p:cNvSpPr/>
          <p:nvPr/>
        </p:nvSpPr>
        <p:spPr>
          <a:xfrm>
            <a:off x="6364080" y="2615040"/>
            <a:ext cx="402120" cy="402120"/>
          </a:xfrm>
          <a:prstGeom prst="ellipse">
            <a:avLst/>
          </a:prstGeom>
          <a:solidFill>
            <a:srgbClr val="E84855"/>
          </a:solidFill>
          <a:ln w="12600">
            <a:solidFill>
              <a:srgbClr val="E8485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9"/>
          <p:cNvSpPr/>
          <p:nvPr/>
        </p:nvSpPr>
        <p:spPr>
          <a:xfrm>
            <a:off x="6364080" y="271116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10"/>
          <p:cNvSpPr/>
          <p:nvPr/>
        </p:nvSpPr>
        <p:spPr>
          <a:xfrm>
            <a:off x="6931080" y="2642760"/>
            <a:ext cx="42516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0233F"/>
                </a:solidFill>
                <a:effectLst/>
                <a:uFillTx/>
                <a:latin typeface="Aptos"/>
                <a:ea typeface="Aptos"/>
              </a:rPr>
              <a:t>¿Qué amenazas podrían estar actuando?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11"/>
          <p:cNvSpPr/>
          <p:nvPr/>
        </p:nvSpPr>
        <p:spPr>
          <a:xfrm>
            <a:off x="1005840" y="3858840"/>
            <a:ext cx="402120" cy="402120"/>
          </a:xfrm>
          <a:prstGeom prst="ellipse">
            <a:avLst/>
          </a:prstGeom>
          <a:solidFill>
            <a:srgbClr val="FFB020"/>
          </a:solidFill>
          <a:ln w="12600">
            <a:solidFill>
              <a:srgbClr val="FFB02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12"/>
          <p:cNvSpPr/>
          <p:nvPr/>
        </p:nvSpPr>
        <p:spPr>
          <a:xfrm>
            <a:off x="1005840" y="395496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13"/>
          <p:cNvSpPr/>
          <p:nvPr/>
        </p:nvSpPr>
        <p:spPr>
          <a:xfrm>
            <a:off x="1572840" y="3886200"/>
            <a:ext cx="42516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0233F"/>
                </a:solidFill>
                <a:effectLst/>
                <a:uFillTx/>
                <a:latin typeface="Aptos"/>
                <a:ea typeface="Aptos"/>
              </a:rPr>
              <a:t>¿Qué vulnerabilidades buscarías primero?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14"/>
          <p:cNvSpPr/>
          <p:nvPr/>
        </p:nvSpPr>
        <p:spPr>
          <a:xfrm>
            <a:off x="6364080" y="3858840"/>
            <a:ext cx="402120" cy="402120"/>
          </a:xfrm>
          <a:prstGeom prst="ellipse">
            <a:avLst/>
          </a:prstGeom>
          <a:solidFill>
            <a:srgbClr val="00A99D"/>
          </a:solidFill>
          <a:ln w="12600">
            <a:solidFill>
              <a:srgbClr val="00A99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15"/>
          <p:cNvSpPr/>
          <p:nvPr/>
        </p:nvSpPr>
        <p:spPr>
          <a:xfrm>
            <a:off x="6364080" y="395496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16"/>
          <p:cNvSpPr/>
          <p:nvPr/>
        </p:nvSpPr>
        <p:spPr>
          <a:xfrm>
            <a:off x="6931080" y="3886200"/>
            <a:ext cx="42516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0233F"/>
                </a:solidFill>
                <a:effectLst/>
                <a:uFillTx/>
                <a:latin typeface="Aptos"/>
                <a:ea typeface="Aptos"/>
              </a:rPr>
              <a:t>¿Qué harías en los primeros 15 minutos?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17"/>
          <p:cNvSpPr/>
          <p:nvPr/>
        </p:nvSpPr>
        <p:spPr>
          <a:xfrm>
            <a:off x="1005840" y="5715000"/>
            <a:ext cx="1389600" cy="402120"/>
          </a:xfrm>
          <a:prstGeom prst="roundRect">
            <a:avLst>
              <a:gd name="adj" fmla="val 18182"/>
            </a:avLst>
          </a:prstGeom>
          <a:solidFill>
            <a:srgbClr val="E5F8F0"/>
          </a:solidFill>
          <a:ln w="12600">
            <a:solidFill>
              <a:srgbClr val="E5F8F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18"/>
          <p:cNvSpPr/>
          <p:nvPr/>
        </p:nvSpPr>
        <p:spPr>
          <a:xfrm>
            <a:off x="1134000" y="5801760"/>
            <a:ext cx="1133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B875"/>
                </a:solidFill>
                <a:effectLst/>
                <a:uFillTx/>
                <a:latin typeface="Aptos"/>
              </a:rPr>
              <a:t>Entrega rápida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19"/>
          <p:cNvSpPr/>
          <p:nvPr/>
        </p:nvSpPr>
        <p:spPr>
          <a:xfrm>
            <a:off x="2578680" y="5715000"/>
            <a:ext cx="7406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Una respuesta por pregunta + una medida preventiva prioritaria.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20"/>
          <p:cNvSpPr/>
          <p:nvPr/>
        </p:nvSpPr>
        <p:spPr>
          <a:xfrm>
            <a:off x="11174040" y="64465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CA2BC"/>
                </a:solidFill>
                <a:effectLst/>
                <a:uFillTx/>
                <a:latin typeface="Aptos"/>
              </a:rPr>
              <a:t>23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Text 0"/>
          <p:cNvSpPr/>
          <p:nvPr/>
        </p:nvSpPr>
        <p:spPr>
          <a:xfrm>
            <a:off x="530280" y="25596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E6BFF"/>
                </a:solidFill>
                <a:effectLst/>
                <a:uFillTx/>
                <a:latin typeface="Aptos"/>
                <a:ea typeface="Aptos"/>
              </a:rPr>
              <a:t>CIERRE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1"/>
          <p:cNvSpPr/>
          <p:nvPr/>
        </p:nvSpPr>
        <p:spPr>
          <a:xfrm>
            <a:off x="530280" y="621720"/>
            <a:ext cx="11064240" cy="360"/>
          </a:xfrm>
          <a:prstGeom prst="line">
            <a:avLst/>
          </a:prstGeom>
          <a:ln w="12600">
            <a:solidFill>
              <a:srgbClr val="BBD7F4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2"/>
          <p:cNvSpPr/>
          <p:nvPr/>
        </p:nvSpPr>
        <p:spPr>
          <a:xfrm>
            <a:off x="621720" y="786240"/>
            <a:ext cx="6674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Qué debes recordar hoy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3"/>
          <p:cNvSpPr/>
          <p:nvPr/>
        </p:nvSpPr>
        <p:spPr>
          <a:xfrm>
            <a:off x="621720" y="1334880"/>
            <a:ext cx="6674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Cinco ideas para empezar bien la asignatura.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4"/>
          <p:cNvSpPr/>
          <p:nvPr/>
        </p:nvSpPr>
        <p:spPr>
          <a:xfrm>
            <a:off x="914400" y="1673280"/>
            <a:ext cx="402120" cy="402120"/>
          </a:xfrm>
          <a:prstGeom prst="ellipse">
            <a:avLst/>
          </a:prstGeom>
          <a:solidFill>
            <a:srgbClr val="1E6BFF"/>
          </a:solidFill>
          <a:ln w="12600">
            <a:solidFill>
              <a:srgbClr val="1E6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5"/>
          <p:cNvSpPr/>
          <p:nvPr/>
        </p:nvSpPr>
        <p:spPr>
          <a:xfrm>
            <a:off x="914400" y="176940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6"/>
          <p:cNvSpPr/>
          <p:nvPr/>
        </p:nvSpPr>
        <p:spPr>
          <a:xfrm>
            <a:off x="1481400" y="1700640"/>
            <a:ext cx="9326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0233F"/>
                </a:solidFill>
                <a:effectLst/>
                <a:uFillTx/>
                <a:latin typeface="Aptos"/>
                <a:ea typeface="Aptos"/>
              </a:rPr>
              <a:t>La seguridad perfecta no existe; se gestiona el riesgo.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7"/>
          <p:cNvSpPr/>
          <p:nvPr/>
        </p:nvSpPr>
        <p:spPr>
          <a:xfrm>
            <a:off x="914400" y="2459880"/>
            <a:ext cx="402120" cy="402120"/>
          </a:xfrm>
          <a:prstGeom prst="ellipse">
            <a:avLst/>
          </a:prstGeom>
          <a:solidFill>
            <a:srgbClr val="00A99D"/>
          </a:solidFill>
          <a:ln w="12600">
            <a:solidFill>
              <a:srgbClr val="00A99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8"/>
          <p:cNvSpPr/>
          <p:nvPr/>
        </p:nvSpPr>
        <p:spPr>
          <a:xfrm>
            <a:off x="914400" y="255564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9"/>
          <p:cNvSpPr/>
          <p:nvPr/>
        </p:nvSpPr>
        <p:spPr>
          <a:xfrm>
            <a:off x="1481400" y="2487240"/>
            <a:ext cx="9326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0233F"/>
                </a:solidFill>
                <a:effectLst/>
                <a:uFillTx/>
                <a:latin typeface="Aptos"/>
                <a:ea typeface="Aptos"/>
              </a:rPr>
              <a:t>La empresa depende de datos, sistemas y personas.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10"/>
          <p:cNvSpPr/>
          <p:nvPr/>
        </p:nvSpPr>
        <p:spPr>
          <a:xfrm>
            <a:off x="914400" y="3246120"/>
            <a:ext cx="402120" cy="402120"/>
          </a:xfrm>
          <a:prstGeom prst="ellipse">
            <a:avLst/>
          </a:prstGeom>
          <a:solidFill>
            <a:srgbClr val="FFB020"/>
          </a:solidFill>
          <a:ln w="12600">
            <a:solidFill>
              <a:srgbClr val="FFB02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11"/>
          <p:cNvSpPr/>
          <p:nvPr/>
        </p:nvSpPr>
        <p:spPr>
          <a:xfrm>
            <a:off x="914400" y="334224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12"/>
          <p:cNvSpPr/>
          <p:nvPr/>
        </p:nvSpPr>
        <p:spPr>
          <a:xfrm>
            <a:off x="1481400" y="3273480"/>
            <a:ext cx="9326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0233F"/>
                </a:solidFill>
                <a:effectLst/>
                <a:uFillTx/>
                <a:latin typeface="Aptos"/>
                <a:ea typeface="Aptos"/>
              </a:rPr>
              <a:t>On‑premises, cloud e híbrido cambian responsabilidades, no eliminan riesgos.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13"/>
          <p:cNvSpPr/>
          <p:nvPr/>
        </p:nvSpPr>
        <p:spPr>
          <a:xfrm>
            <a:off x="914400" y="4032360"/>
            <a:ext cx="402120" cy="402120"/>
          </a:xfrm>
          <a:prstGeom prst="ellipse">
            <a:avLst/>
          </a:prstGeom>
          <a:solidFill>
            <a:srgbClr val="E84855"/>
          </a:solidFill>
          <a:ln w="12600">
            <a:solidFill>
              <a:srgbClr val="E8485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14"/>
          <p:cNvSpPr/>
          <p:nvPr/>
        </p:nvSpPr>
        <p:spPr>
          <a:xfrm>
            <a:off x="914400" y="412848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15"/>
          <p:cNvSpPr/>
          <p:nvPr/>
        </p:nvSpPr>
        <p:spPr>
          <a:xfrm>
            <a:off x="1481400" y="4060080"/>
            <a:ext cx="9326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0233F"/>
                </a:solidFill>
                <a:effectLst/>
                <a:uFillTx/>
                <a:latin typeface="Aptos"/>
                <a:ea typeface="Aptos"/>
              </a:rPr>
              <a:t>La desinformación y el phishing atacan nuestra prisa y emociones.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16"/>
          <p:cNvSpPr/>
          <p:nvPr/>
        </p:nvSpPr>
        <p:spPr>
          <a:xfrm>
            <a:off x="914400" y="4818960"/>
            <a:ext cx="402120" cy="402120"/>
          </a:xfrm>
          <a:prstGeom prst="ellipse">
            <a:avLst/>
          </a:prstGeom>
          <a:solidFill>
            <a:srgbClr val="7B61FF"/>
          </a:solidFill>
          <a:ln w="12600">
            <a:solidFill>
              <a:srgbClr val="7B61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17"/>
          <p:cNvSpPr/>
          <p:nvPr/>
        </p:nvSpPr>
        <p:spPr>
          <a:xfrm>
            <a:off x="914400" y="491508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18"/>
          <p:cNvSpPr/>
          <p:nvPr/>
        </p:nvSpPr>
        <p:spPr>
          <a:xfrm>
            <a:off x="1481400" y="4846320"/>
            <a:ext cx="9326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0233F"/>
                </a:solidFill>
                <a:effectLst/>
                <a:uFillTx/>
                <a:latin typeface="Aptos"/>
                <a:ea typeface="Aptos"/>
              </a:rPr>
              <a:t>Las defensas básicas —MFA, copias, actualizaciones y mínimo privilegio— funcionan.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19"/>
          <p:cNvSpPr/>
          <p:nvPr/>
        </p:nvSpPr>
        <p:spPr>
          <a:xfrm>
            <a:off x="914400" y="5623560"/>
            <a:ext cx="9966960" cy="360"/>
          </a:xfrm>
          <a:prstGeom prst="line">
            <a:avLst/>
          </a:prstGeom>
          <a:ln w="19080">
            <a:solidFill>
              <a:srgbClr val="BBD7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20"/>
          <p:cNvSpPr/>
          <p:nvPr/>
        </p:nvSpPr>
        <p:spPr>
          <a:xfrm>
            <a:off x="932760" y="5870520"/>
            <a:ext cx="9875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Próxima parada: amenazas, vulnerabilidades y primeros laboratorios de análisis.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21"/>
          <p:cNvSpPr/>
          <p:nvPr/>
        </p:nvSpPr>
        <p:spPr>
          <a:xfrm>
            <a:off x="11174040" y="64465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CA2BC"/>
                </a:solidFill>
                <a:effectLst/>
                <a:uFillTx/>
                <a:latin typeface="Aptos"/>
              </a:rPr>
              <a:t>24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Text 0"/>
          <p:cNvSpPr/>
          <p:nvPr/>
        </p:nvSpPr>
        <p:spPr>
          <a:xfrm>
            <a:off x="530280" y="25596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E6BFF"/>
                </a:solidFill>
                <a:effectLst/>
                <a:uFillTx/>
                <a:latin typeface="Aptos"/>
                <a:ea typeface="Aptos"/>
              </a:rPr>
              <a:t>REFERENCIA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1"/>
          <p:cNvSpPr/>
          <p:nvPr/>
        </p:nvSpPr>
        <p:spPr>
          <a:xfrm>
            <a:off x="530280" y="621720"/>
            <a:ext cx="11064240" cy="360"/>
          </a:xfrm>
          <a:prstGeom prst="line">
            <a:avLst/>
          </a:prstGeom>
          <a:ln w="12600">
            <a:solidFill>
              <a:srgbClr val="BBD7F4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2"/>
          <p:cNvSpPr/>
          <p:nvPr/>
        </p:nvSpPr>
        <p:spPr>
          <a:xfrm>
            <a:off x="621720" y="786240"/>
            <a:ext cx="6674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Material base y ampliaciones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3"/>
          <p:cNvSpPr/>
          <p:nvPr/>
        </p:nvSpPr>
        <p:spPr>
          <a:xfrm>
            <a:off x="621720" y="1334880"/>
            <a:ext cx="6674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9708E"/>
                </a:solidFill>
                <a:effectLst/>
                <a:uFillTx/>
                <a:latin typeface="Aptos"/>
                <a:ea typeface="Aptos"/>
              </a:rPr>
              <a:t>Para el alumnado: esta presentación resume y actualiza la introducción de la unidad.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4"/>
          <p:cNvSpPr/>
          <p:nvPr/>
        </p:nvSpPr>
        <p:spPr>
          <a:xfrm>
            <a:off x="868680" y="1609200"/>
            <a:ext cx="5074560" cy="2175840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5"/>
          <p:cNvSpPr/>
          <p:nvPr/>
        </p:nvSpPr>
        <p:spPr>
          <a:xfrm>
            <a:off x="868680" y="1609200"/>
            <a:ext cx="91080" cy="2175840"/>
          </a:xfrm>
          <a:prstGeom prst="rect">
            <a:avLst/>
          </a:prstGeom>
          <a:solidFill>
            <a:srgbClr val="1E6BFF"/>
          </a:solidFill>
          <a:ln w="12600">
            <a:solidFill>
              <a:srgbClr val="1E6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6"/>
          <p:cNvSpPr/>
          <p:nvPr/>
        </p:nvSpPr>
        <p:spPr>
          <a:xfrm>
            <a:off x="1143000" y="1792080"/>
            <a:ext cx="4663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Conceptos incluidos del material base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7"/>
          <p:cNvSpPr/>
          <p:nvPr/>
        </p:nvSpPr>
        <p:spPr>
          <a:xfrm>
            <a:off x="1143000" y="2212920"/>
            <a:ext cx="466308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Importancia de la seguridad informática; empresa; CIO/CTO; Blue Team y Red Team; modelos on‑premises, cloud e híbrido; IaaS/PaaS/SaaS; ventajas y riesgos cloud; información en Internet; información falsa; posverdad; uso responsable.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8"/>
          <p:cNvSpPr/>
          <p:nvPr/>
        </p:nvSpPr>
        <p:spPr>
          <a:xfrm>
            <a:off x="6355080" y="1609200"/>
            <a:ext cx="4983120" cy="2175840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600">
            <a:solidFill>
              <a:srgbClr val="DDE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9"/>
          <p:cNvSpPr/>
          <p:nvPr/>
        </p:nvSpPr>
        <p:spPr>
          <a:xfrm>
            <a:off x="6355080" y="1609200"/>
            <a:ext cx="91080" cy="2175840"/>
          </a:xfrm>
          <a:prstGeom prst="rect">
            <a:avLst/>
          </a:prstGeom>
          <a:solidFill>
            <a:srgbClr val="00A99D"/>
          </a:solidFill>
          <a:ln w="12600">
            <a:solidFill>
              <a:srgbClr val="00A99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10"/>
          <p:cNvSpPr/>
          <p:nvPr/>
        </p:nvSpPr>
        <p:spPr>
          <a:xfrm>
            <a:off x="6629400" y="179208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33F"/>
                </a:solidFill>
                <a:effectLst/>
                <a:uFillTx/>
                <a:latin typeface="Aptos Display"/>
                <a:ea typeface="Aptos Display"/>
              </a:rPr>
              <a:t>Conceptos básicos añadidos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11"/>
          <p:cNvSpPr/>
          <p:nvPr/>
        </p:nvSpPr>
        <p:spPr>
          <a:xfrm>
            <a:off x="6629400" y="2212920"/>
            <a:ext cx="457164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9708E"/>
                </a:solidFill>
                <a:effectLst/>
                <a:uFillTx/>
                <a:latin typeface="Aptos"/>
              </a:rPr>
              <a:t>Seguridad de la información, seguridad informática y ciberseguridad; tríada CIA; amenaza, vulnerabilidad, activo y riesgo; amenazas frecuentes; MFA; copias 3‑2‑1; mínimo privilegio; cifrado; respuesta a incidentes; RGPD, ética e IA.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12"/>
          <p:cNvSpPr/>
          <p:nvPr/>
        </p:nvSpPr>
        <p:spPr>
          <a:xfrm>
            <a:off x="960120" y="4800600"/>
            <a:ext cx="100580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0233F"/>
                </a:solidFill>
                <a:effectLst/>
                <a:uFillTx/>
                <a:latin typeface="Aptos"/>
                <a:ea typeface="Aptos"/>
              </a:rPr>
              <a:t>Objetivo docente: menos diapositivas saturadas, más conversación, casos cortos y decisiones técnicas comprensibles.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13"/>
          <p:cNvSpPr/>
          <p:nvPr/>
        </p:nvSpPr>
        <p:spPr>
          <a:xfrm>
            <a:off x="11174040" y="64465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CA2BC"/>
                </a:solidFill>
                <a:effectLst/>
                <a:uFillTx/>
                <a:latin typeface="Aptos"/>
              </a:rPr>
              <a:t>25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2024</Words>
  <Application>Microsoft Office PowerPoint</Application>
  <PresentationFormat>Panorámica</PresentationFormat>
  <Paragraphs>350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25</vt:i4>
      </vt:variant>
    </vt:vector>
  </HeadingPairs>
  <TitlesOfParts>
    <vt:vector size="33" baseType="lpstr">
      <vt:lpstr>Aptos</vt:lpstr>
      <vt:lpstr>Aptos Display</vt:lpstr>
      <vt:lpstr>Arial</vt:lpstr>
      <vt:lpstr>Symbol</vt:lpstr>
      <vt:lpstr>Times New Roman</vt:lpstr>
      <vt:lpstr>Wingdings</vt:lpstr>
      <vt:lpstr>Office Theme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IES Galileo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JOSE ANTONIO PEREZ DE LAS CUEVAS</cp:lastModifiedBy>
  <cp:revision>3</cp:revision>
  <dcterms:modified xsi:type="dcterms:W3CDTF">2026-09-14T16:38:02Z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2026-09-14T16:26:41Z</dcterms:created>
  <dc:creator>IES Galileo</dc:creator>
  <dc:description/>
  <dc:language>en-US</dc:language>
  <cp:lastModifiedBy>IES Galileo</cp:lastModifiedBy>
  <dcterms:modified xsi:type="dcterms:W3CDTF">2026-09-14T16:26:41Z</dcterms:modified>
  <cp:revision>1</cp:revision>
  <dc:subject>Seguridad informática - Introducción a la ciberseguridad</dc:subject>
  <dc:title>Seguridad Informática - Presentación alumnado FP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25</vt:r8>
  </property>
  <property fmtid="{D5CDD505-2E9C-101B-9397-08002B2CF9AE}" pid="3" name="PresentationFormat">
    <vt:lpwstr>On-screen Show (16:9)</vt:lpwstr>
  </property>
  <property fmtid="{D5CDD505-2E9C-101B-9397-08002B2CF9AE}" pid="4" name="Slides">
    <vt:r8>25</vt:r8>
  </property>
</Properties>
</file>